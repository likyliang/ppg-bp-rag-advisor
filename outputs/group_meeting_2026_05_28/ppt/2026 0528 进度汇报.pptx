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01"/>
    <p:restoredTop sz="86384"/>
  </p:normalViewPr>
  <p:slideViewPr>
    <p:cSldViewPr snapToGrid="0">
      <p:cViewPr>
        <p:scale>
          <a:sx n="167" d="100"/>
          <a:sy n="167" d="100"/>
        </p:scale>
        <p:origin x="144" y="-1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4048" y="2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111BDE07-9AE9-4430-AB33-9E357EBA723E}"/>
              </a:ext>
            </a:extLst>
          </p:cNvPr>
          <p:cNvSpPr>
            <a:spLocks noGrp="1"/>
          </p:cNvSpPr>
          <p:nvPr/>
        </p:nvSpPr>
        <p:spPr>
          <a:xfrm>
            <a:off x="0" y="13252"/>
            <a:ext cx="12192000" cy="6858000"/>
          </a:xfrm>
          <a:prstGeom prst="rect">
            <a:avLst/>
          </a:prstGeom>
          <a:solidFill>
            <a:srgbClr val="1D24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B802BE-71BD-4963-B274-BB6AF32BD0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83A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EAD16F-A08B-450A-A4F3-381CE4791971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组会汇报稿 / 2026-05-30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0860F2-DB3B-49E4-895B-B1ED0C6398EF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72390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高血压</a:t>
            </a:r>
            <a:r>
              <a:rPr sz="435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 RAG </a:t>
            </a:r>
            <a:r>
              <a:rPr sz="435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文档库</a:t>
            </a:r>
            <a:endParaRPr sz="435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与</a:t>
            </a:r>
            <a:r>
              <a:rPr sz="435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 demo </a:t>
            </a:r>
            <a:r>
              <a:rPr sz="435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阶段汇报</a:t>
            </a:r>
            <a:endParaRPr sz="435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47D1CBD-3E90-42DB-BEDA-FC7580680E9E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7429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E2E8F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E2E8F0"/>
                </a:solidFill>
                <a:latin typeface="PingFang SC"/>
                <a:ea typeface="PingFang SC"/>
                <a:cs typeface="PingFang SC"/>
              </a:rPr>
              <a:t>汇报重点：文献列表、受限下载清单、chunks 切分过程、向量检索方式，以及结构化输入生成报告的演示链路。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C24F571-EA87-46EE-8FD1-1A5196B5E5A8}"/>
              </a:ext>
            </a:extLst>
          </p:cNvPr>
          <p:cNvSpPr>
            <a:spLocks noGrp="1"/>
          </p:cNvSpPr>
          <p:nvPr/>
        </p:nvSpPr>
        <p:spPr>
          <a:xfrm>
            <a:off x="704850" y="3743325"/>
            <a:ext cx="7239000" cy="9525"/>
          </a:xfrm>
          <a:prstGeom prst="rect">
            <a:avLst/>
          </a:prstGeom>
          <a:solidFill>
            <a:srgbClr val="536072"/>
          </a:solidFill>
          <a:ln w="0">
            <a:solidFill>
              <a:srgbClr val="536072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0B2DD26-9183-448C-A85A-51BC9A381B8F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边界口径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321E36-2EB3-4D7D-9545-A69868652074}"/>
              </a:ext>
            </a:extLst>
          </p:cNvPr>
          <p:cNvSpPr>
            <a:spLocks noGrp="1"/>
          </p:cNvSpPr>
          <p:nvPr/>
        </p:nvSpPr>
        <p:spPr>
          <a:xfrm>
            <a:off x="742950" y="4305300"/>
            <a:ext cx="7620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6DEE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6DEE9"/>
                </a:solidFill>
                <a:latin typeface="PingFang SC"/>
                <a:ea typeface="PingFang SC"/>
                <a:cs typeface="PingFang SC"/>
              </a:rPr>
              <a:t>本工程展示的是“安全约束的健康解释 RAG-Agent”，不是验证 PPG 估算血压的准确性；也不替代袖带血压计或医生诊断。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7B23C40-8A9E-40A6-A1D5-93E23ED6FE92}"/>
              </a:ext>
            </a:extLst>
          </p:cNvPr>
          <p:cNvSpPr>
            <a:spLocks noGrp="1"/>
          </p:cNvSpPr>
          <p:nvPr/>
        </p:nvSpPr>
        <p:spPr>
          <a:xfrm>
            <a:off x="8477250" y="1123950"/>
            <a:ext cx="2381250" cy="1238250"/>
          </a:xfrm>
          <a:prstGeom prst="rect">
            <a:avLst/>
          </a:prstGeom>
          <a:solidFill>
            <a:srgbClr val="273246"/>
          </a:solidFill>
          <a:ln w="9525">
            <a:solidFill>
              <a:srgbClr val="D83A34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9D6A40D-F0E2-4386-BEDA-305672616DE7}"/>
              </a:ext>
            </a:extLst>
          </p:cNvPr>
          <p:cNvSpPr>
            <a:spLocks noGrp="1"/>
          </p:cNvSpPr>
          <p:nvPr/>
        </p:nvSpPr>
        <p:spPr>
          <a:xfrm>
            <a:off x="8648700" y="1257300"/>
            <a:ext cx="2038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126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7766436-4DEA-4974-A52D-CD0A0E4D28A0}"/>
              </a:ext>
            </a:extLst>
          </p:cNvPr>
          <p:cNvSpPr>
            <a:spLocks noGrp="1"/>
          </p:cNvSpPr>
          <p:nvPr/>
        </p:nvSpPr>
        <p:spPr>
          <a:xfrm>
            <a:off x="8648700" y="173355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2E8F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2E8F0"/>
                </a:solidFill>
                <a:latin typeface="PingFang SC"/>
                <a:ea typeface="PingFang SC"/>
                <a:cs typeface="PingFang SC"/>
              </a:rPr>
              <a:t>入库文档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1C89AFA-13B4-48D8-B5A1-0CCCA62BA905}"/>
              </a:ext>
            </a:extLst>
          </p:cNvPr>
          <p:cNvSpPr>
            <a:spLocks noGrp="1"/>
          </p:cNvSpPr>
          <p:nvPr/>
        </p:nvSpPr>
        <p:spPr>
          <a:xfrm>
            <a:off x="8648700" y="2057400"/>
            <a:ext cx="2038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6C1D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6C1D3"/>
                </a:solidFill>
                <a:latin typeface="PingFang SC"/>
                <a:ea typeface="PingFang SC"/>
                <a:cs typeface="PingFang SC"/>
              </a:rPr>
              <a:t>已通过治理筛选的 sources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8D85D03-4696-4EEE-96D1-78697687426A}"/>
              </a:ext>
            </a:extLst>
          </p:cNvPr>
          <p:cNvSpPr>
            <a:spLocks noGrp="1"/>
          </p:cNvSpPr>
          <p:nvPr/>
        </p:nvSpPr>
        <p:spPr>
          <a:xfrm>
            <a:off x="8477250" y="2647950"/>
            <a:ext cx="2381250" cy="1238250"/>
          </a:xfrm>
          <a:prstGeom prst="rect">
            <a:avLst/>
          </a:prstGeom>
          <a:solidFill>
            <a:srgbClr val="273246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6C63B9-4A25-4D84-8742-27CBDDD5747A}"/>
              </a:ext>
            </a:extLst>
          </p:cNvPr>
          <p:cNvSpPr>
            <a:spLocks noGrp="1"/>
          </p:cNvSpPr>
          <p:nvPr/>
        </p:nvSpPr>
        <p:spPr>
          <a:xfrm>
            <a:off x="8648700" y="2781300"/>
            <a:ext cx="2038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584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49671DA-DE1C-4219-8EB7-A870EC83B997}"/>
              </a:ext>
            </a:extLst>
          </p:cNvPr>
          <p:cNvSpPr>
            <a:spLocks noGrp="1"/>
          </p:cNvSpPr>
          <p:nvPr/>
        </p:nvSpPr>
        <p:spPr>
          <a:xfrm>
            <a:off x="8648700" y="325755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2E8F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dirty="0" err="1">
                <a:solidFill>
                  <a:srgbClr val="E2E8F0"/>
                </a:solidFill>
                <a:latin typeface="PingFang SC"/>
                <a:ea typeface="PingFang SC"/>
                <a:cs typeface="PingFang SC"/>
              </a:rPr>
              <a:t>摘要</a:t>
            </a:r>
            <a:r>
              <a:rPr sz="1200" b="1" dirty="0">
                <a:solidFill>
                  <a:srgbClr val="E2E8F0"/>
                </a:solidFill>
                <a:latin typeface="PingFang SC"/>
                <a:ea typeface="PingFang SC"/>
                <a:cs typeface="PingFang SC"/>
              </a:rPr>
              <a:t> KB chunks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7936216-500F-4353-ACEB-FE1D43F0D988}"/>
              </a:ext>
            </a:extLst>
          </p:cNvPr>
          <p:cNvSpPr>
            <a:spLocks noGrp="1"/>
          </p:cNvSpPr>
          <p:nvPr/>
        </p:nvSpPr>
        <p:spPr>
          <a:xfrm>
            <a:off x="8648700" y="3581400"/>
            <a:ext cx="2038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6C1D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6C1D3"/>
                </a:solidFill>
                <a:latin typeface="PingFang SC"/>
                <a:ea typeface="PingFang SC"/>
                <a:cs typeface="PingFang SC"/>
              </a:rPr>
              <a:t>用于正式 RAG 检索与引用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3DBB99F-91E4-49D5-B984-3CCF2D5CC5EC}"/>
              </a:ext>
            </a:extLst>
          </p:cNvPr>
          <p:cNvSpPr>
            <a:spLocks noGrp="1"/>
          </p:cNvSpPr>
          <p:nvPr/>
        </p:nvSpPr>
        <p:spPr>
          <a:xfrm>
            <a:off x="8477250" y="4171950"/>
            <a:ext cx="2381250" cy="1238250"/>
          </a:xfrm>
          <a:prstGeom prst="rect">
            <a:avLst/>
          </a:prstGeom>
          <a:solidFill>
            <a:srgbClr val="273246"/>
          </a:solidFill>
          <a:ln w="9525">
            <a:solidFill>
              <a:srgbClr val="B7791F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4D98E5A-0F32-4B40-A6DF-A6608255C8C0}"/>
              </a:ext>
            </a:extLst>
          </p:cNvPr>
          <p:cNvSpPr>
            <a:spLocks noGrp="1"/>
          </p:cNvSpPr>
          <p:nvPr/>
        </p:nvSpPr>
        <p:spPr>
          <a:xfrm>
            <a:off x="8648700" y="4305300"/>
            <a:ext cx="2038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13,168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255052D-1241-4F70-A3A9-777E693486B0}"/>
              </a:ext>
            </a:extLst>
          </p:cNvPr>
          <p:cNvSpPr>
            <a:spLocks noGrp="1"/>
          </p:cNvSpPr>
          <p:nvPr/>
        </p:nvSpPr>
        <p:spPr>
          <a:xfrm>
            <a:off x="8648700" y="478155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2E8F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dirty="0">
                <a:solidFill>
                  <a:srgbClr val="E2E8F0"/>
                </a:solidFill>
                <a:latin typeface="PingFang SC"/>
                <a:ea typeface="PingFang SC"/>
                <a:cs typeface="PingFang SC"/>
              </a:rPr>
              <a:t>PDF </a:t>
            </a:r>
            <a:r>
              <a:rPr sz="1200" b="1" dirty="0" err="1">
                <a:solidFill>
                  <a:srgbClr val="E2E8F0"/>
                </a:solidFill>
                <a:latin typeface="PingFang SC"/>
                <a:ea typeface="PingFang SC"/>
                <a:cs typeface="PingFang SC"/>
              </a:rPr>
              <a:t>细切</a:t>
            </a:r>
            <a:r>
              <a:rPr sz="1200" b="1" dirty="0">
                <a:solidFill>
                  <a:srgbClr val="E2E8F0"/>
                </a:solidFill>
                <a:latin typeface="PingFang SC"/>
                <a:ea typeface="PingFang SC"/>
                <a:cs typeface="PingFang SC"/>
              </a:rPr>
              <a:t> chunks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16A7718-0052-459A-9EE2-CD4E27629C74}"/>
              </a:ext>
            </a:extLst>
          </p:cNvPr>
          <p:cNvSpPr>
            <a:spLocks noGrp="1"/>
          </p:cNvSpPr>
          <p:nvPr/>
        </p:nvSpPr>
        <p:spPr>
          <a:xfrm>
            <a:off x="8648700" y="5105400"/>
            <a:ext cx="2038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6C1D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dirty="0">
                <a:solidFill>
                  <a:srgbClr val="B6C1D3"/>
                </a:solidFill>
                <a:latin typeface="PingFang SC"/>
                <a:ea typeface="PingFang SC"/>
                <a:cs typeface="PingFang SC"/>
              </a:rPr>
              <a:t>62 </a:t>
            </a:r>
            <a:r>
              <a:rPr sz="900" b="0" dirty="0" err="1">
                <a:solidFill>
                  <a:srgbClr val="B6C1D3"/>
                </a:solidFill>
                <a:latin typeface="PingFang SC"/>
                <a:ea typeface="PingFang SC"/>
                <a:cs typeface="PingFang SC"/>
              </a:rPr>
              <a:t>个本地</a:t>
            </a:r>
            <a:r>
              <a:rPr sz="900" b="0" dirty="0">
                <a:solidFill>
                  <a:srgbClr val="B6C1D3"/>
                </a:solidFill>
                <a:latin typeface="PingFang SC"/>
                <a:ea typeface="PingFang SC"/>
                <a:cs typeface="PingFang SC"/>
              </a:rPr>
              <a:t> PDF </a:t>
            </a:r>
            <a:r>
              <a:rPr sz="900" b="0" dirty="0" err="1">
                <a:solidFill>
                  <a:srgbClr val="B6C1D3"/>
                </a:solidFill>
                <a:latin typeface="PingFang SC"/>
                <a:ea typeface="PingFang SC"/>
                <a:cs typeface="PingFang SC"/>
              </a:rPr>
              <a:t>全文来源</a:t>
            </a:r>
            <a:endParaRPr sz="900" b="0" dirty="0">
              <a:solidFill>
                <a:srgbClr val="B6C1D3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4EEDB80-46FE-41DF-B7D9-887A5C23D615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AAB4C5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AAB4C5"/>
                </a:solidFill>
                <a:latin typeface="PingFang SC"/>
                <a:ea typeface="PingFang SC"/>
                <a:cs typeface="PingFang SC"/>
              </a:rPr>
              <a:t>source: processed audit reports + group_meeting_2026_05_28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C5FADF4-837B-4AA5-9FC5-E88729672966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08191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7A87018-93BC-4858-8722-A4CC6805DE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D83A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9CCD46D-AD4D-4B21-B076-502457BF078C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REPORT ARC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B25ACF-358B-4090-AC44-AA1B81372F8E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287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D2433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2850" b="1" dirty="0" err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汇报四</a:t>
            </a:r>
            <a:r>
              <a:rPr sz="2850" b="1" dirty="0" err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件事</a:t>
            </a:r>
            <a:endParaRPr sz="2850" b="1" dirty="0">
              <a:solidFill>
                <a:srgbClr val="1D2433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BBFAD8-4BCA-4FC7-B121-3F244A91DDF8}"/>
              </a:ext>
            </a:extLst>
          </p:cNvPr>
          <p:cNvSpPr>
            <a:spLocks noGrp="1"/>
          </p:cNvSpPr>
          <p:nvPr/>
        </p:nvSpPr>
        <p:spPr>
          <a:xfrm>
            <a:off x="628650" y="148590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dirty="0" err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每一部分都对应一个可打开的本地清单、审计文件或</a:t>
            </a:r>
            <a:r>
              <a:rPr sz="1275" b="0" dirty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 demo </a:t>
            </a:r>
            <a:r>
              <a:rPr sz="1275" b="0" dirty="0" err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页面</a:t>
            </a:r>
            <a:r>
              <a:rPr sz="1275" b="0" dirty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98D32C-153D-4EF9-9A28-1862AE874419}"/>
              </a:ext>
            </a:extLst>
          </p:cNvPr>
          <p:cNvSpPr>
            <a:spLocks noGrp="1"/>
          </p:cNvSpPr>
          <p:nvPr/>
        </p:nvSpPr>
        <p:spPr>
          <a:xfrm>
            <a:off x="1962150" y="2366963"/>
            <a:ext cx="1619250" cy="2095500"/>
          </a:xfrm>
          <a:prstGeom prst="rect">
            <a:avLst/>
          </a:prstGeom>
          <a:solidFill>
            <a:srgbClr val="E6F3F2"/>
          </a:solidFill>
          <a:ln w="14288">
            <a:solidFill>
              <a:srgbClr val="0E7C7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A31C6C-14DB-40BC-8316-796D7FABEC9D}"/>
              </a:ext>
            </a:extLst>
          </p:cNvPr>
          <p:cNvSpPr>
            <a:spLocks noGrp="1"/>
          </p:cNvSpPr>
          <p:nvPr/>
        </p:nvSpPr>
        <p:spPr>
          <a:xfrm>
            <a:off x="2114550" y="2500313"/>
            <a:ext cx="1314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sz="1600" b="1" dirty="0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1 </a:t>
            </a:r>
            <a:r>
              <a:rPr sz="1600" b="1" dirty="0" err="1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文献库</a:t>
            </a:r>
            <a:endParaRPr sz="1600" b="1" dirty="0">
              <a:solidFill>
                <a:srgbClr val="0E7C7B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D4AB630-4750-46DA-9E4D-0C658490878E}"/>
              </a:ext>
            </a:extLst>
          </p:cNvPr>
          <p:cNvSpPr>
            <a:spLocks noGrp="1"/>
          </p:cNvSpPr>
          <p:nvPr/>
        </p:nvSpPr>
        <p:spPr>
          <a:xfrm>
            <a:off x="2114550" y="2843213"/>
            <a:ext cx="131445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600" b="0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展示已入库文献规模、主题覆盖、证据等级与当前代表性文档</a:t>
            </a:r>
            <a:r>
              <a:rPr sz="1600" b="0" dirty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D38FEB-023D-4FD0-84A0-1D58D901E800}"/>
              </a:ext>
            </a:extLst>
          </p:cNvPr>
          <p:cNvSpPr>
            <a:spLocks noGrp="1"/>
          </p:cNvSpPr>
          <p:nvPr/>
        </p:nvSpPr>
        <p:spPr>
          <a:xfrm>
            <a:off x="3619500" y="3386138"/>
            <a:ext cx="457200" cy="28575"/>
          </a:xfrm>
          <a:prstGeom prst="rect">
            <a:avLst/>
          </a:prstGeom>
          <a:solidFill>
            <a:srgbClr val="B8AF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6FE4C8E-01A0-405A-ACE0-9BE1AA6BAC9C}"/>
              </a:ext>
            </a:extLst>
          </p:cNvPr>
          <p:cNvSpPr>
            <a:spLocks noGrp="1"/>
          </p:cNvSpPr>
          <p:nvPr/>
        </p:nvSpPr>
        <p:spPr>
          <a:xfrm>
            <a:off x="4000500" y="3271838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B8AFA4"/>
                </a:solidFill>
                <a:latin typeface="PingFang SC"/>
                <a:ea typeface="PingFang SC"/>
                <a:cs typeface="PingFang SC"/>
              </a:defRPr>
            </a:pPr>
            <a:r>
              <a:rPr b="1">
                <a:solidFill>
                  <a:srgbClr val="B8AFA4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69A0BCF-A331-4014-9BC8-990A144585D6}"/>
              </a:ext>
            </a:extLst>
          </p:cNvPr>
          <p:cNvSpPr>
            <a:spLocks noGrp="1"/>
          </p:cNvSpPr>
          <p:nvPr/>
        </p:nvSpPr>
        <p:spPr>
          <a:xfrm>
            <a:off x="3619500" y="3400425"/>
            <a:ext cx="457200" cy="28575"/>
          </a:xfrm>
          <a:prstGeom prst="rect">
            <a:avLst/>
          </a:prstGeom>
          <a:solidFill>
            <a:srgbClr val="B8AF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E445A4F-F57D-49E9-82EC-F6F4075F400C}"/>
              </a:ext>
            </a:extLst>
          </p:cNvPr>
          <p:cNvSpPr>
            <a:spLocks noGrp="1"/>
          </p:cNvSpPr>
          <p:nvPr/>
        </p:nvSpPr>
        <p:spPr>
          <a:xfrm>
            <a:off x="4000500" y="328612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B8AFA4"/>
                </a:solidFill>
                <a:latin typeface="PingFang SC"/>
                <a:ea typeface="PingFang SC"/>
                <a:cs typeface="PingFang SC"/>
              </a:defRPr>
            </a:pPr>
            <a:r>
              <a:rPr b="1">
                <a:solidFill>
                  <a:srgbClr val="B8AFA4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9A6B22A-1071-4F24-9A8D-3946425D838D}"/>
              </a:ext>
            </a:extLst>
          </p:cNvPr>
          <p:cNvSpPr>
            <a:spLocks noGrp="1"/>
          </p:cNvSpPr>
          <p:nvPr/>
        </p:nvSpPr>
        <p:spPr>
          <a:xfrm>
            <a:off x="4152900" y="2381250"/>
            <a:ext cx="1619250" cy="2095500"/>
          </a:xfrm>
          <a:prstGeom prst="rect">
            <a:avLst/>
          </a:prstGeom>
          <a:solidFill>
            <a:srgbClr val="EAF1FF"/>
          </a:solidFill>
          <a:ln w="14288">
            <a:solidFill>
              <a:srgbClr val="2563EB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4CFA1D7-4352-4D2A-B87C-94DB97DFED11}"/>
              </a:ext>
            </a:extLst>
          </p:cNvPr>
          <p:cNvSpPr>
            <a:spLocks noGrp="1"/>
          </p:cNvSpPr>
          <p:nvPr/>
        </p:nvSpPr>
        <p:spPr>
          <a:xfrm>
            <a:off x="4305300" y="2514600"/>
            <a:ext cx="1314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600" b="1" dirty="0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2</a:t>
            </a:r>
            <a:r>
              <a:rPr sz="1600" b="1" dirty="0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 chunks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25412E4-E889-4DD6-9EF8-CBA1879D27A3}"/>
              </a:ext>
            </a:extLst>
          </p:cNvPr>
          <p:cNvSpPr>
            <a:spLocks noGrp="1"/>
          </p:cNvSpPr>
          <p:nvPr/>
        </p:nvSpPr>
        <p:spPr>
          <a:xfrm>
            <a:off x="4305300" y="2857500"/>
            <a:ext cx="131445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5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600" dirty="0">
                <a:solidFill>
                  <a:srgbClr val="354052"/>
                </a:solidFill>
                <a:latin typeface="PingFang SC"/>
              </a:rPr>
              <a:t>人工参与</a:t>
            </a:r>
            <a:r>
              <a:rPr lang="en-US" altLang="zh-CN" sz="1600" dirty="0">
                <a:solidFill>
                  <a:srgbClr val="354052"/>
                </a:solidFill>
                <a:latin typeface="PingFang SC"/>
              </a:rPr>
              <a:t>chunks</a:t>
            </a:r>
            <a:r>
              <a:rPr lang="zh-CN" altLang="en-US" sz="1600" dirty="0">
                <a:solidFill>
                  <a:srgbClr val="354052"/>
                </a:solidFill>
                <a:latin typeface="PingFang SC"/>
              </a:rPr>
              <a:t>过程。</a:t>
            </a:r>
            <a:endParaRPr sz="1600" dirty="0">
              <a:solidFill>
                <a:srgbClr val="354052"/>
              </a:solidFill>
              <a:latin typeface="PingFang SC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D7F14CB-D314-492A-B6A8-A4E66B22A879}"/>
              </a:ext>
            </a:extLst>
          </p:cNvPr>
          <p:cNvSpPr>
            <a:spLocks noGrp="1"/>
          </p:cNvSpPr>
          <p:nvPr/>
        </p:nvSpPr>
        <p:spPr>
          <a:xfrm>
            <a:off x="5810250" y="3400425"/>
            <a:ext cx="457200" cy="28575"/>
          </a:xfrm>
          <a:prstGeom prst="rect">
            <a:avLst/>
          </a:prstGeom>
          <a:solidFill>
            <a:srgbClr val="B8AF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2BE072D-4A90-4C4B-B4BC-E7F8A038B049}"/>
              </a:ext>
            </a:extLst>
          </p:cNvPr>
          <p:cNvSpPr>
            <a:spLocks noGrp="1"/>
          </p:cNvSpPr>
          <p:nvPr/>
        </p:nvSpPr>
        <p:spPr>
          <a:xfrm>
            <a:off x="6191250" y="328612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B8AFA4"/>
                </a:solidFill>
                <a:latin typeface="PingFang SC"/>
                <a:ea typeface="PingFang SC"/>
                <a:cs typeface="PingFang SC"/>
              </a:defRPr>
            </a:pPr>
            <a:r>
              <a:rPr b="1">
                <a:solidFill>
                  <a:srgbClr val="B8AFA4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43B91B6-6DB5-4B39-B97B-56601284BA83}"/>
              </a:ext>
            </a:extLst>
          </p:cNvPr>
          <p:cNvSpPr>
            <a:spLocks noGrp="1"/>
          </p:cNvSpPr>
          <p:nvPr/>
        </p:nvSpPr>
        <p:spPr>
          <a:xfrm>
            <a:off x="6343650" y="2381250"/>
            <a:ext cx="1619250" cy="2095500"/>
          </a:xfrm>
          <a:prstGeom prst="rect">
            <a:avLst/>
          </a:prstGeom>
          <a:solidFill>
            <a:srgbClr val="FDEDEC"/>
          </a:solidFill>
          <a:ln w="14288">
            <a:solidFill>
              <a:srgbClr val="D83A34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7BC9060-1288-4284-9899-0A1A43E2E8BF}"/>
              </a:ext>
            </a:extLst>
          </p:cNvPr>
          <p:cNvSpPr>
            <a:spLocks noGrp="1"/>
          </p:cNvSpPr>
          <p:nvPr/>
        </p:nvSpPr>
        <p:spPr>
          <a:xfrm>
            <a:off x="6496050" y="2514600"/>
            <a:ext cx="1314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600" b="1" dirty="0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3</a:t>
            </a:r>
            <a:r>
              <a:rPr lang="zh-CN" altLang="en-US" sz="1600" b="1" dirty="0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b="1" dirty="0" err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两种向量</a:t>
            </a:r>
            <a:endParaRPr sz="1600" b="1" dirty="0">
              <a:solidFill>
                <a:srgbClr val="D83A3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EF0FC22-779B-415B-8E72-EFD9970FBF8E}"/>
              </a:ext>
            </a:extLst>
          </p:cNvPr>
          <p:cNvSpPr>
            <a:spLocks noGrp="1"/>
          </p:cNvSpPr>
          <p:nvPr/>
        </p:nvSpPr>
        <p:spPr>
          <a:xfrm>
            <a:off x="6496050" y="2857500"/>
            <a:ext cx="131445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5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600" dirty="0" err="1">
                <a:solidFill>
                  <a:srgbClr val="354052"/>
                </a:solidFill>
                <a:latin typeface="PingFang SC"/>
              </a:rPr>
              <a:t>解释</a:t>
            </a:r>
            <a:r>
              <a:rPr sz="1600" dirty="0">
                <a:solidFill>
                  <a:srgbClr val="354052"/>
                </a:solidFill>
                <a:latin typeface="PingFang SC"/>
              </a:rPr>
              <a:t> embedding </a:t>
            </a:r>
            <a:r>
              <a:rPr sz="1600" dirty="0" err="1">
                <a:solidFill>
                  <a:srgbClr val="354052"/>
                </a:solidFill>
                <a:latin typeface="PingFang SC"/>
              </a:rPr>
              <a:t>模型向量与本次本地</a:t>
            </a:r>
            <a:r>
              <a:rPr sz="1600" dirty="0">
                <a:solidFill>
                  <a:srgbClr val="354052"/>
                </a:solidFill>
                <a:latin typeface="PingFang SC"/>
              </a:rPr>
              <a:t> hashing vector </a:t>
            </a:r>
            <a:r>
              <a:rPr sz="1600" dirty="0" err="1">
                <a:solidFill>
                  <a:srgbClr val="354052"/>
                </a:solidFill>
                <a:latin typeface="PingFang SC"/>
              </a:rPr>
              <a:t>的区别</a:t>
            </a:r>
            <a:r>
              <a:rPr sz="1600" dirty="0">
                <a:solidFill>
                  <a:srgbClr val="354052"/>
                </a:solidFill>
                <a:latin typeface="PingFang SC"/>
              </a:rPr>
              <a:t>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DF8C409-593B-4605-86A8-D59E2C5FB432}"/>
              </a:ext>
            </a:extLst>
          </p:cNvPr>
          <p:cNvSpPr>
            <a:spLocks noGrp="1"/>
          </p:cNvSpPr>
          <p:nvPr/>
        </p:nvSpPr>
        <p:spPr>
          <a:xfrm>
            <a:off x="8001000" y="3400425"/>
            <a:ext cx="457200" cy="28575"/>
          </a:xfrm>
          <a:prstGeom prst="rect">
            <a:avLst/>
          </a:prstGeom>
          <a:solidFill>
            <a:srgbClr val="B8AF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0D2B1E6-BD8F-4317-8015-641A3B3812F7}"/>
              </a:ext>
            </a:extLst>
          </p:cNvPr>
          <p:cNvSpPr>
            <a:spLocks noGrp="1"/>
          </p:cNvSpPr>
          <p:nvPr/>
        </p:nvSpPr>
        <p:spPr>
          <a:xfrm>
            <a:off x="8382000" y="328612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B8AFA4"/>
                </a:solidFill>
                <a:latin typeface="PingFang SC"/>
                <a:ea typeface="PingFang SC"/>
                <a:cs typeface="PingFang SC"/>
              </a:defRPr>
            </a:pPr>
            <a:r>
              <a:rPr b="1">
                <a:solidFill>
                  <a:srgbClr val="B8AFA4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AA80C62-4B69-4F90-AD0E-2AB18ADBDA0B}"/>
              </a:ext>
            </a:extLst>
          </p:cNvPr>
          <p:cNvSpPr>
            <a:spLocks noGrp="1"/>
          </p:cNvSpPr>
          <p:nvPr/>
        </p:nvSpPr>
        <p:spPr>
          <a:xfrm>
            <a:off x="8534400" y="2381250"/>
            <a:ext cx="1619250" cy="2095500"/>
          </a:xfrm>
          <a:prstGeom prst="rect">
            <a:avLst/>
          </a:prstGeom>
          <a:solidFill>
            <a:srgbClr val="EAF7F0"/>
          </a:solidFill>
          <a:ln w="14288">
            <a:solidFill>
              <a:srgbClr val="1F8A5B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1952672-3049-423B-B511-61B158966E26}"/>
              </a:ext>
            </a:extLst>
          </p:cNvPr>
          <p:cNvSpPr>
            <a:spLocks noGrp="1"/>
          </p:cNvSpPr>
          <p:nvPr/>
        </p:nvSpPr>
        <p:spPr>
          <a:xfrm>
            <a:off x="8686800" y="2514600"/>
            <a:ext cx="1314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8A5B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600" b="1" dirty="0">
                <a:solidFill>
                  <a:srgbClr val="1F8A5B"/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sz="1600" b="1" dirty="0">
                <a:solidFill>
                  <a:srgbClr val="1F8A5B"/>
                </a:solidFill>
                <a:latin typeface="PingFang SC"/>
                <a:ea typeface="PingFang SC"/>
                <a:cs typeface="PingFang SC"/>
              </a:rPr>
              <a:t> demo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4BB0DC9-883F-483E-ABE3-CED67C88E685}"/>
              </a:ext>
            </a:extLst>
          </p:cNvPr>
          <p:cNvSpPr>
            <a:spLocks noGrp="1"/>
          </p:cNvSpPr>
          <p:nvPr/>
        </p:nvSpPr>
        <p:spPr>
          <a:xfrm>
            <a:off x="8686800" y="2857500"/>
            <a:ext cx="131445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5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600" dirty="0" err="1">
                <a:solidFill>
                  <a:srgbClr val="354052"/>
                </a:solidFill>
                <a:latin typeface="PingFang SC"/>
              </a:rPr>
              <a:t>输入小程序结构化数据，演示</a:t>
            </a:r>
            <a:r>
              <a:rPr sz="1600" dirty="0">
                <a:solidFill>
                  <a:srgbClr val="354052"/>
                </a:solidFill>
                <a:latin typeface="PingFang SC"/>
              </a:rPr>
              <a:t> RAG </a:t>
            </a:r>
            <a:r>
              <a:rPr sz="1600" dirty="0" err="1">
                <a:solidFill>
                  <a:srgbClr val="354052"/>
                </a:solidFill>
                <a:latin typeface="PingFang SC"/>
              </a:rPr>
              <a:t>版报告与非</a:t>
            </a:r>
            <a:r>
              <a:rPr sz="1600" dirty="0">
                <a:solidFill>
                  <a:srgbClr val="354052"/>
                </a:solidFill>
                <a:latin typeface="PingFang SC"/>
              </a:rPr>
              <a:t> RAG </a:t>
            </a:r>
            <a:r>
              <a:rPr sz="1600" dirty="0" err="1">
                <a:solidFill>
                  <a:srgbClr val="354052"/>
                </a:solidFill>
                <a:latin typeface="PingFang SC"/>
              </a:rPr>
              <a:t>对照</a:t>
            </a:r>
            <a:r>
              <a:rPr sz="1600" dirty="0">
                <a:solidFill>
                  <a:srgbClr val="354052"/>
                </a:solidFill>
                <a:latin typeface="PingFang SC"/>
              </a:rPr>
              <a:t>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C10B130-A50A-4071-88F9-E892082BA7A2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A6F65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7A6F65"/>
                </a:solidFill>
                <a:latin typeface="PingFang SC"/>
                <a:ea typeface="PingFang SC"/>
                <a:cs typeface="PingFang SC"/>
              </a:rPr>
              <a:t>source: claim-spine.txt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CF60138-D93C-41BE-9269-AB122D2F3B62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54283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矩形 80">
            <a:extLst>
              <a:ext uri="{FF2B5EF4-FFF2-40B4-BE49-F238E27FC236}">
                <a16:creationId xmlns:a16="http://schemas.microsoft.com/office/drawing/2014/main" id="{AB5F06EC-847C-4ECC-B376-858995F9034A}"/>
              </a:ext>
            </a:extLst>
          </p:cNvPr>
          <p:cNvSpPr>
            <a:spLocks noGrp="1"/>
          </p:cNvSpPr>
          <p:nvPr/>
        </p:nvSpPr>
        <p:spPr>
          <a:xfrm>
            <a:off x="0" y="276225"/>
            <a:ext cx="12192000" cy="6858000"/>
          </a:xfrm>
          <a:prstGeom prst="rect">
            <a:avLst/>
          </a:prstGeom>
          <a:solidFill>
            <a:srgbClr val="F7F5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A43AAA-AC62-47EA-98E7-F64A423F52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D83A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935799-E316-4A44-A684-67FBF02A7E3D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DOCUMENT INVENTORY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F1809B6-1616-4860-9228-7AB2D0BA51A3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287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D243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文档库已经扩到可演示规模，但仍保留治理边界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764368-EF53-4D75-90E2-B1BE4BC5979A}"/>
              </a:ext>
            </a:extLst>
          </p:cNvPr>
          <p:cNvSpPr>
            <a:spLocks noGrp="1"/>
          </p:cNvSpPr>
          <p:nvPr/>
        </p:nvSpPr>
        <p:spPr>
          <a:xfrm>
            <a:off x="628650" y="148590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正式摘要库用于可引用报告；本地 PDF 细切库用于展示切分与检索流程。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05CC5D-8481-4616-B5D9-0AD161F1355C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20002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931E03-B3B0-4E62-8279-C85E9BCAE62D}"/>
              </a:ext>
            </a:extLst>
          </p:cNvPr>
          <p:cNvSpPr>
            <a:spLocks noGrp="1"/>
          </p:cNvSpPr>
          <p:nvPr/>
        </p:nvSpPr>
        <p:spPr>
          <a:xfrm>
            <a:off x="838200" y="2085975"/>
            <a:ext cx="1657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D2433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dirty="0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126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21E246-7591-4FEF-A94D-EB6DAEAE2E80}"/>
              </a:ext>
            </a:extLst>
          </p:cNvPr>
          <p:cNvSpPr>
            <a:spLocks noGrp="1"/>
          </p:cNvSpPr>
          <p:nvPr/>
        </p:nvSpPr>
        <p:spPr>
          <a:xfrm>
            <a:off x="838200" y="2562225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included sources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A3CE21-6AAC-492F-AA04-FABC1C80AF56}"/>
              </a:ext>
            </a:extLst>
          </p:cNvPr>
          <p:cNvSpPr>
            <a:spLocks noGrp="1"/>
          </p:cNvSpPr>
          <p:nvPr/>
        </p:nvSpPr>
        <p:spPr>
          <a:xfrm>
            <a:off x="838200" y="2847975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已通过筛选的入库文档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45D823-AFAB-440A-BDF7-08CCFB75C205}"/>
              </a:ext>
            </a:extLst>
          </p:cNvPr>
          <p:cNvSpPr>
            <a:spLocks noGrp="1"/>
          </p:cNvSpPr>
          <p:nvPr/>
        </p:nvSpPr>
        <p:spPr>
          <a:xfrm>
            <a:off x="2914650" y="1952625"/>
            <a:ext cx="20002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C9C0AE-62C8-4464-A9EC-76EE8ACDA0A8}"/>
              </a:ext>
            </a:extLst>
          </p:cNvPr>
          <p:cNvSpPr>
            <a:spLocks noGrp="1"/>
          </p:cNvSpPr>
          <p:nvPr/>
        </p:nvSpPr>
        <p:spPr>
          <a:xfrm>
            <a:off x="3086100" y="2085975"/>
            <a:ext cx="1657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D2433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584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83BA3BF-F172-4315-8E34-824D16EDA35E}"/>
              </a:ext>
            </a:extLst>
          </p:cNvPr>
          <p:cNvSpPr>
            <a:spLocks noGrp="1"/>
          </p:cNvSpPr>
          <p:nvPr/>
        </p:nvSpPr>
        <p:spPr>
          <a:xfrm>
            <a:off x="3086100" y="2562225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summary chunks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953F784-474E-45AA-B109-370AF8ED086C}"/>
              </a:ext>
            </a:extLst>
          </p:cNvPr>
          <p:cNvSpPr>
            <a:spLocks noGrp="1"/>
          </p:cNvSpPr>
          <p:nvPr/>
        </p:nvSpPr>
        <p:spPr>
          <a:xfrm>
            <a:off x="3086100" y="2847975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正式 KB 的摘要型 chunks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4D9FCC-2627-4A6B-9E1F-D87DC8CE746C}"/>
              </a:ext>
            </a:extLst>
          </p:cNvPr>
          <p:cNvSpPr>
            <a:spLocks noGrp="1"/>
          </p:cNvSpPr>
          <p:nvPr/>
        </p:nvSpPr>
        <p:spPr>
          <a:xfrm>
            <a:off x="5162550" y="1952625"/>
            <a:ext cx="20002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95B473F-B05A-4A2D-B33B-53BC7E7A7DF1}"/>
              </a:ext>
            </a:extLst>
          </p:cNvPr>
          <p:cNvSpPr>
            <a:spLocks noGrp="1"/>
          </p:cNvSpPr>
          <p:nvPr/>
        </p:nvSpPr>
        <p:spPr>
          <a:xfrm>
            <a:off x="5334000" y="2085975"/>
            <a:ext cx="1657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D2433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dirty="0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6</a:t>
            </a:r>
            <a:r>
              <a:rPr lang="en-US" altLang="zh-CN" sz="3000" b="1" dirty="0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8</a:t>
            </a:r>
            <a:endParaRPr sz="3000" b="1" dirty="0">
              <a:solidFill>
                <a:srgbClr val="1D2433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938E6C0-1F07-404D-8E8D-C02FD7062B21}"/>
              </a:ext>
            </a:extLst>
          </p:cNvPr>
          <p:cNvSpPr>
            <a:spLocks noGrp="1"/>
          </p:cNvSpPr>
          <p:nvPr/>
        </p:nvSpPr>
        <p:spPr>
          <a:xfrm>
            <a:off x="5334000" y="2562225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local PDF sources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42B5F97-0684-433F-A18E-A3C6CD0E85A6}"/>
              </a:ext>
            </a:extLst>
          </p:cNvPr>
          <p:cNvSpPr>
            <a:spLocks noGrp="1"/>
          </p:cNvSpPr>
          <p:nvPr/>
        </p:nvSpPr>
        <p:spPr>
          <a:xfrm>
            <a:off x="5334000" y="2847975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可本地细切的 PDF 来源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87AAEDD-68E6-40EB-B1A3-FEE669CA7492}"/>
              </a:ext>
            </a:extLst>
          </p:cNvPr>
          <p:cNvSpPr>
            <a:spLocks noGrp="1"/>
          </p:cNvSpPr>
          <p:nvPr/>
        </p:nvSpPr>
        <p:spPr>
          <a:xfrm>
            <a:off x="7410450" y="1952625"/>
            <a:ext cx="20002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ABB1015-4061-4639-9DE5-9ACBB459BD0F}"/>
              </a:ext>
            </a:extLst>
          </p:cNvPr>
          <p:cNvSpPr>
            <a:spLocks noGrp="1"/>
          </p:cNvSpPr>
          <p:nvPr/>
        </p:nvSpPr>
        <p:spPr>
          <a:xfrm>
            <a:off x="7581900" y="2085975"/>
            <a:ext cx="1657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D2433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13,168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D18836F-CDB1-4937-B383-0B12A5DBFB3F}"/>
              </a:ext>
            </a:extLst>
          </p:cNvPr>
          <p:cNvSpPr>
            <a:spLocks noGrp="1"/>
          </p:cNvSpPr>
          <p:nvPr/>
        </p:nvSpPr>
        <p:spPr>
          <a:xfrm>
            <a:off x="7581900" y="2562225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fulltext chunks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F1375E6-6FD0-4091-970A-4F25CEFB33B8}"/>
              </a:ext>
            </a:extLst>
          </p:cNvPr>
          <p:cNvSpPr>
            <a:spLocks noGrp="1"/>
          </p:cNvSpPr>
          <p:nvPr/>
        </p:nvSpPr>
        <p:spPr>
          <a:xfrm>
            <a:off x="7581900" y="2847975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PDF 全文细切索引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FC42297-1EEC-412F-8871-B8C9F579A9B3}"/>
              </a:ext>
            </a:extLst>
          </p:cNvPr>
          <p:cNvSpPr>
            <a:spLocks noGrp="1"/>
          </p:cNvSpPr>
          <p:nvPr/>
        </p:nvSpPr>
        <p:spPr>
          <a:xfrm>
            <a:off x="9658350" y="1952625"/>
            <a:ext cx="17145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2AFBE12-1C65-4D35-91A6-F8F4457B97FF}"/>
              </a:ext>
            </a:extLst>
          </p:cNvPr>
          <p:cNvSpPr>
            <a:spLocks noGrp="1"/>
          </p:cNvSpPr>
          <p:nvPr/>
        </p:nvSpPr>
        <p:spPr>
          <a:xfrm>
            <a:off x="9829800" y="2085975"/>
            <a:ext cx="1371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D2433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A6899E0-93DD-41AA-858C-CEF67EC1AED4}"/>
              </a:ext>
            </a:extLst>
          </p:cNvPr>
          <p:cNvSpPr>
            <a:spLocks noGrp="1"/>
          </p:cNvSpPr>
          <p:nvPr/>
        </p:nvSpPr>
        <p:spPr>
          <a:xfrm>
            <a:off x="9829800" y="2562225"/>
            <a:ext cx="1371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unsafe leakage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635827C-9BDE-4897-9CEA-FC1C9B210CEC}"/>
              </a:ext>
            </a:extLst>
          </p:cNvPr>
          <p:cNvSpPr>
            <a:spLocks noGrp="1"/>
          </p:cNvSpPr>
          <p:nvPr/>
        </p:nvSpPr>
        <p:spPr>
          <a:xfrm>
            <a:off x="9829800" y="2847975"/>
            <a:ext cx="1371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quality gate 未发现泄漏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95E7E3D-B958-42A5-BC1E-A26C7E00442C}"/>
              </a:ext>
            </a:extLst>
          </p:cNvPr>
          <p:cNvSpPr>
            <a:spLocks noGrp="1"/>
          </p:cNvSpPr>
          <p:nvPr/>
        </p:nvSpPr>
        <p:spPr>
          <a:xfrm>
            <a:off x="742950" y="3705225"/>
            <a:ext cx="247650" cy="28575"/>
          </a:xfrm>
          <a:prstGeom prst="rect">
            <a:avLst/>
          </a:prstGeom>
          <a:solidFill>
            <a:srgbClr val="D83A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343E9BA-7E42-45B2-A389-A48B04736D95}"/>
              </a:ext>
            </a:extLst>
          </p:cNvPr>
          <p:cNvSpPr>
            <a:spLocks noGrp="1"/>
          </p:cNvSpPr>
          <p:nvPr/>
        </p:nvSpPr>
        <p:spPr>
          <a:xfrm>
            <a:off x="1066800" y="3619500"/>
            <a:ext cx="34290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dirty="0" err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主题覆盖：正式</a:t>
            </a:r>
            <a:r>
              <a:rPr sz="1050" b="1" dirty="0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 KB chunk </a:t>
            </a:r>
            <a:r>
              <a:rPr sz="1050" b="1" dirty="0" err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数</a:t>
            </a:r>
            <a:endParaRPr sz="1050" b="1" dirty="0">
              <a:solidFill>
                <a:srgbClr val="D83A3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60EDD33-43A2-4966-A803-61DCE5712EFD}"/>
              </a:ext>
            </a:extLst>
          </p:cNvPr>
          <p:cNvSpPr>
            <a:spLocks noGrp="1"/>
          </p:cNvSpPr>
          <p:nvPr/>
        </p:nvSpPr>
        <p:spPr>
          <a:xfrm>
            <a:off x="762000" y="402907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测量质量</a:t>
            </a:r>
            <a:endParaRPr sz="900" b="0" dirty="0">
              <a:solidFill>
                <a:srgbClr val="35405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34C3EA6-6395-4CC8-90B1-4810B13122F7}"/>
              </a:ext>
            </a:extLst>
          </p:cNvPr>
          <p:cNvSpPr>
            <a:spLocks noGrp="1"/>
          </p:cNvSpPr>
          <p:nvPr/>
        </p:nvSpPr>
        <p:spPr>
          <a:xfrm>
            <a:off x="2476500" y="4067175"/>
            <a:ext cx="2476500" cy="114300"/>
          </a:xfrm>
          <a:prstGeom prst="rect">
            <a:avLst/>
          </a:prstGeom>
          <a:solidFill>
            <a:srgbClr val="E8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4B15A65-0674-4E76-A15D-F5E8584C1F62}"/>
              </a:ext>
            </a:extLst>
          </p:cNvPr>
          <p:cNvSpPr>
            <a:spLocks noGrp="1"/>
          </p:cNvSpPr>
          <p:nvPr/>
        </p:nvSpPr>
        <p:spPr>
          <a:xfrm>
            <a:off x="2476500" y="4067175"/>
            <a:ext cx="2476500" cy="11430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DEEDE2D-195B-4D92-B1DD-1EEB05A28137}"/>
              </a:ext>
            </a:extLst>
          </p:cNvPr>
          <p:cNvSpPr>
            <a:spLocks noGrp="1"/>
          </p:cNvSpPr>
          <p:nvPr/>
        </p:nvSpPr>
        <p:spPr>
          <a:xfrm>
            <a:off x="5067300" y="401955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D243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136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26F245A-C4AC-47D8-8811-420C45299259}"/>
              </a:ext>
            </a:extLst>
          </p:cNvPr>
          <p:cNvSpPr>
            <a:spLocks noGrp="1"/>
          </p:cNvSpPr>
          <p:nvPr/>
        </p:nvSpPr>
        <p:spPr>
          <a:xfrm>
            <a:off x="762000" y="43243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家庭血压监测</a:t>
            </a:r>
            <a:endParaRPr sz="900" b="0" dirty="0">
              <a:solidFill>
                <a:srgbClr val="35405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42ABAD7-4909-4F72-BC4A-66170E9852D7}"/>
              </a:ext>
            </a:extLst>
          </p:cNvPr>
          <p:cNvSpPr>
            <a:spLocks noGrp="1"/>
          </p:cNvSpPr>
          <p:nvPr/>
        </p:nvSpPr>
        <p:spPr>
          <a:xfrm>
            <a:off x="2476500" y="4362450"/>
            <a:ext cx="2476500" cy="114300"/>
          </a:xfrm>
          <a:prstGeom prst="rect">
            <a:avLst/>
          </a:prstGeom>
          <a:solidFill>
            <a:srgbClr val="E8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70C0594-E32A-4E89-89E4-83A0610D3647}"/>
              </a:ext>
            </a:extLst>
          </p:cNvPr>
          <p:cNvSpPr>
            <a:spLocks noGrp="1"/>
          </p:cNvSpPr>
          <p:nvPr/>
        </p:nvSpPr>
        <p:spPr>
          <a:xfrm>
            <a:off x="2476500" y="4362450"/>
            <a:ext cx="2021261" cy="1143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C49FCF0-054E-4235-9559-31744307A336}"/>
              </a:ext>
            </a:extLst>
          </p:cNvPr>
          <p:cNvSpPr>
            <a:spLocks noGrp="1"/>
          </p:cNvSpPr>
          <p:nvPr/>
        </p:nvSpPr>
        <p:spPr>
          <a:xfrm>
            <a:off x="5067300" y="4314825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D243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111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9EECE0B-9BEF-486C-BCB0-E8BA549B29F6}"/>
              </a:ext>
            </a:extLst>
          </p:cNvPr>
          <p:cNvSpPr>
            <a:spLocks noGrp="1"/>
          </p:cNvSpPr>
          <p:nvPr/>
        </p:nvSpPr>
        <p:spPr>
          <a:xfrm>
            <a:off x="762000" y="4629052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生活方式</a:t>
            </a:r>
            <a:endParaRPr sz="900" b="0" dirty="0">
              <a:solidFill>
                <a:srgbClr val="35405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A41ABA7-AFA8-4E47-9775-C2F50D784187}"/>
              </a:ext>
            </a:extLst>
          </p:cNvPr>
          <p:cNvSpPr>
            <a:spLocks noGrp="1"/>
          </p:cNvSpPr>
          <p:nvPr/>
        </p:nvSpPr>
        <p:spPr>
          <a:xfrm>
            <a:off x="2476500" y="4657725"/>
            <a:ext cx="2476500" cy="114300"/>
          </a:xfrm>
          <a:prstGeom prst="rect">
            <a:avLst/>
          </a:prstGeom>
          <a:solidFill>
            <a:srgbClr val="E8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CA4AE50-40CF-4F0E-A11B-AEF84C742C23}"/>
              </a:ext>
            </a:extLst>
          </p:cNvPr>
          <p:cNvSpPr>
            <a:spLocks noGrp="1"/>
          </p:cNvSpPr>
          <p:nvPr/>
        </p:nvSpPr>
        <p:spPr>
          <a:xfrm>
            <a:off x="2476500" y="4657725"/>
            <a:ext cx="1784537" cy="114300"/>
          </a:xfrm>
          <a:prstGeom prst="rect">
            <a:avLst/>
          </a:prstGeom>
          <a:solidFill>
            <a:srgbClr val="1F8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BDF23DD-436C-451D-A5B3-ABFC38250EDC}"/>
              </a:ext>
            </a:extLst>
          </p:cNvPr>
          <p:cNvSpPr>
            <a:spLocks noGrp="1"/>
          </p:cNvSpPr>
          <p:nvPr/>
        </p:nvSpPr>
        <p:spPr>
          <a:xfrm>
            <a:off x="5067300" y="461010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D243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98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0CD44A4-9B3E-496D-B509-3B86A7A823C1}"/>
              </a:ext>
            </a:extLst>
          </p:cNvPr>
          <p:cNvSpPr>
            <a:spLocks noGrp="1"/>
          </p:cNvSpPr>
          <p:nvPr/>
        </p:nvSpPr>
        <p:spPr>
          <a:xfrm>
            <a:off x="762000" y="49149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特殊人群</a:t>
            </a:r>
            <a:endParaRPr sz="900" b="0" dirty="0">
              <a:solidFill>
                <a:srgbClr val="35405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9F7EF77-265D-4702-BFAE-68765AC12C45}"/>
              </a:ext>
            </a:extLst>
          </p:cNvPr>
          <p:cNvSpPr>
            <a:spLocks noGrp="1"/>
          </p:cNvSpPr>
          <p:nvPr/>
        </p:nvSpPr>
        <p:spPr>
          <a:xfrm>
            <a:off x="2476500" y="4953000"/>
            <a:ext cx="2476500" cy="114300"/>
          </a:xfrm>
          <a:prstGeom prst="rect">
            <a:avLst/>
          </a:prstGeom>
          <a:solidFill>
            <a:srgbClr val="E8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42D08C4-0ACA-4FAE-9E25-A28424C27D2D}"/>
              </a:ext>
            </a:extLst>
          </p:cNvPr>
          <p:cNvSpPr>
            <a:spLocks noGrp="1"/>
          </p:cNvSpPr>
          <p:nvPr/>
        </p:nvSpPr>
        <p:spPr>
          <a:xfrm>
            <a:off x="2476500" y="4953000"/>
            <a:ext cx="1256460" cy="1143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0C9B025-E7BC-496D-B463-1CD434E773B9}"/>
              </a:ext>
            </a:extLst>
          </p:cNvPr>
          <p:cNvSpPr>
            <a:spLocks noGrp="1"/>
          </p:cNvSpPr>
          <p:nvPr/>
        </p:nvSpPr>
        <p:spPr>
          <a:xfrm>
            <a:off x="5067300" y="4905375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D243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69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F585083-D8AC-40BC-94B9-35B8DA7ADC48}"/>
              </a:ext>
            </a:extLst>
          </p:cNvPr>
          <p:cNvSpPr>
            <a:spLocks noGrp="1"/>
          </p:cNvSpPr>
          <p:nvPr/>
        </p:nvSpPr>
        <p:spPr>
          <a:xfrm>
            <a:off x="762000" y="521017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PPG / 无袖带局限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29CCE64-8774-47D1-8F06-8022E029085A}"/>
              </a:ext>
            </a:extLst>
          </p:cNvPr>
          <p:cNvSpPr>
            <a:spLocks noGrp="1"/>
          </p:cNvSpPr>
          <p:nvPr/>
        </p:nvSpPr>
        <p:spPr>
          <a:xfrm>
            <a:off x="2476500" y="5248275"/>
            <a:ext cx="2476500" cy="114300"/>
          </a:xfrm>
          <a:prstGeom prst="rect">
            <a:avLst/>
          </a:prstGeom>
          <a:solidFill>
            <a:srgbClr val="E8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24C2BC4-8E79-4470-BB95-142F5C08A9D4}"/>
              </a:ext>
            </a:extLst>
          </p:cNvPr>
          <p:cNvSpPr>
            <a:spLocks noGrp="1"/>
          </p:cNvSpPr>
          <p:nvPr/>
        </p:nvSpPr>
        <p:spPr>
          <a:xfrm>
            <a:off x="2476500" y="5248275"/>
            <a:ext cx="819430" cy="114300"/>
          </a:xfrm>
          <a:prstGeom prst="rect">
            <a:avLst/>
          </a:prstGeom>
          <a:solidFill>
            <a:srgbClr val="D83A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68C7B1F-74A4-4879-A81F-91EEF7F84F8A}"/>
              </a:ext>
            </a:extLst>
          </p:cNvPr>
          <p:cNvSpPr>
            <a:spLocks noGrp="1"/>
          </p:cNvSpPr>
          <p:nvPr/>
        </p:nvSpPr>
        <p:spPr>
          <a:xfrm>
            <a:off x="5067300" y="520065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D243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45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5078D4E-D7F7-4153-9758-E35C62725C9D}"/>
              </a:ext>
            </a:extLst>
          </p:cNvPr>
          <p:cNvSpPr>
            <a:spLocks noGrp="1"/>
          </p:cNvSpPr>
          <p:nvPr/>
        </p:nvSpPr>
        <p:spPr>
          <a:xfrm>
            <a:off x="762000" y="55054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血压分类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51AF979-19B3-4386-B822-4B0EC8244E5C}"/>
              </a:ext>
            </a:extLst>
          </p:cNvPr>
          <p:cNvSpPr>
            <a:spLocks noGrp="1"/>
          </p:cNvSpPr>
          <p:nvPr/>
        </p:nvSpPr>
        <p:spPr>
          <a:xfrm>
            <a:off x="2476500" y="5543550"/>
            <a:ext cx="2476500" cy="114300"/>
          </a:xfrm>
          <a:prstGeom prst="rect">
            <a:avLst/>
          </a:prstGeom>
          <a:solidFill>
            <a:srgbClr val="E8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DE4B127-BA4A-4BDB-A386-B4F57640B52F}"/>
              </a:ext>
            </a:extLst>
          </p:cNvPr>
          <p:cNvSpPr>
            <a:spLocks noGrp="1"/>
          </p:cNvSpPr>
          <p:nvPr/>
        </p:nvSpPr>
        <p:spPr>
          <a:xfrm>
            <a:off x="2476500" y="5543550"/>
            <a:ext cx="673754" cy="1143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8AAF2FA-A64C-441C-BB52-B41DB6F96209}"/>
              </a:ext>
            </a:extLst>
          </p:cNvPr>
          <p:cNvSpPr>
            <a:spLocks noGrp="1"/>
          </p:cNvSpPr>
          <p:nvPr/>
        </p:nvSpPr>
        <p:spPr>
          <a:xfrm>
            <a:off x="5067300" y="5495925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D243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37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FC2A2E0-B067-4BCA-8F7E-33F8312DB8F4}"/>
              </a:ext>
            </a:extLst>
          </p:cNvPr>
          <p:cNvSpPr>
            <a:spLocks noGrp="1"/>
          </p:cNvSpPr>
          <p:nvPr/>
        </p:nvSpPr>
        <p:spPr>
          <a:xfrm>
            <a:off x="6305550" y="3705225"/>
            <a:ext cx="247650" cy="28575"/>
          </a:xfrm>
          <a:prstGeom prst="rect">
            <a:avLst/>
          </a:prstGeom>
          <a:solidFill>
            <a:srgbClr val="D83A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B61D3C4-FD07-4ECE-8667-FA9262E77926}"/>
              </a:ext>
            </a:extLst>
          </p:cNvPr>
          <p:cNvSpPr>
            <a:spLocks noGrp="1"/>
          </p:cNvSpPr>
          <p:nvPr/>
        </p:nvSpPr>
        <p:spPr>
          <a:xfrm>
            <a:off x="6629400" y="3619500"/>
            <a:ext cx="34290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证据等级：入库 sources 数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1708AB1-236C-4B64-9FEC-1A38BD91138C}"/>
              </a:ext>
            </a:extLst>
          </p:cNvPr>
          <p:cNvSpPr>
            <a:spLocks noGrp="1"/>
          </p:cNvSpPr>
          <p:nvPr/>
        </p:nvSpPr>
        <p:spPr>
          <a:xfrm>
            <a:off x="6305550" y="402907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官方健康教育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1468727-0B30-4690-A1B6-A917A6B24FA3}"/>
              </a:ext>
            </a:extLst>
          </p:cNvPr>
          <p:cNvSpPr>
            <a:spLocks noGrp="1"/>
          </p:cNvSpPr>
          <p:nvPr/>
        </p:nvSpPr>
        <p:spPr>
          <a:xfrm>
            <a:off x="8020050" y="4067175"/>
            <a:ext cx="2952750" cy="114300"/>
          </a:xfrm>
          <a:prstGeom prst="rect">
            <a:avLst/>
          </a:prstGeom>
          <a:solidFill>
            <a:srgbClr val="E8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A73C919-3FF0-4341-97F1-29D672B50233}"/>
              </a:ext>
            </a:extLst>
          </p:cNvPr>
          <p:cNvSpPr>
            <a:spLocks noGrp="1"/>
          </p:cNvSpPr>
          <p:nvPr/>
        </p:nvSpPr>
        <p:spPr>
          <a:xfrm>
            <a:off x="8020050" y="4067175"/>
            <a:ext cx="2952750" cy="114300"/>
          </a:xfrm>
          <a:prstGeom prst="rect">
            <a:avLst/>
          </a:prstGeom>
          <a:solidFill>
            <a:srgbClr val="1F8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5945AC8B-69FA-4FCF-8CC9-83B2ED50F16C}"/>
              </a:ext>
            </a:extLst>
          </p:cNvPr>
          <p:cNvSpPr>
            <a:spLocks noGrp="1"/>
          </p:cNvSpPr>
          <p:nvPr/>
        </p:nvSpPr>
        <p:spPr>
          <a:xfrm>
            <a:off x="11087100" y="401955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D243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58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786DB68-E696-4313-A2AD-3EA98D5559FA}"/>
              </a:ext>
            </a:extLst>
          </p:cNvPr>
          <p:cNvSpPr>
            <a:spLocks noGrp="1"/>
          </p:cNvSpPr>
          <p:nvPr/>
        </p:nvSpPr>
        <p:spPr>
          <a:xfrm>
            <a:off x="6305550" y="43243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指南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8F6A4AD-CED0-407E-AF84-9D6D64D98E0C}"/>
              </a:ext>
            </a:extLst>
          </p:cNvPr>
          <p:cNvSpPr>
            <a:spLocks noGrp="1"/>
          </p:cNvSpPr>
          <p:nvPr/>
        </p:nvSpPr>
        <p:spPr>
          <a:xfrm>
            <a:off x="8020050" y="4362450"/>
            <a:ext cx="2952750" cy="114300"/>
          </a:xfrm>
          <a:prstGeom prst="rect">
            <a:avLst/>
          </a:prstGeom>
          <a:solidFill>
            <a:srgbClr val="E8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CE8DF36-BA4C-40AE-B087-54695F9D1C96}"/>
              </a:ext>
            </a:extLst>
          </p:cNvPr>
          <p:cNvSpPr>
            <a:spLocks noGrp="1"/>
          </p:cNvSpPr>
          <p:nvPr/>
        </p:nvSpPr>
        <p:spPr>
          <a:xfrm>
            <a:off x="8020050" y="4362450"/>
            <a:ext cx="916371" cy="114300"/>
          </a:xfrm>
          <a:prstGeom prst="rect">
            <a:avLst/>
          </a:prstGeom>
          <a:solidFill>
            <a:srgbClr val="D83A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66DC787-4BB6-4BE1-AA50-971750657789}"/>
              </a:ext>
            </a:extLst>
          </p:cNvPr>
          <p:cNvSpPr>
            <a:spLocks noGrp="1"/>
          </p:cNvSpPr>
          <p:nvPr/>
        </p:nvSpPr>
        <p:spPr>
          <a:xfrm>
            <a:off x="11087100" y="4314825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D243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52DC7AA-B5DC-4FE0-9BE6-4ACCAB0AE6F8}"/>
              </a:ext>
            </a:extLst>
          </p:cNvPr>
          <p:cNvSpPr>
            <a:spLocks noGrp="1"/>
          </p:cNvSpPr>
          <p:nvPr/>
        </p:nvSpPr>
        <p:spPr>
          <a:xfrm>
            <a:off x="6305550" y="461962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综述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FB27AAB-094F-49CE-A6F5-0E0661D4C9B5}"/>
              </a:ext>
            </a:extLst>
          </p:cNvPr>
          <p:cNvSpPr>
            <a:spLocks noGrp="1"/>
          </p:cNvSpPr>
          <p:nvPr/>
        </p:nvSpPr>
        <p:spPr>
          <a:xfrm>
            <a:off x="8020050" y="4657725"/>
            <a:ext cx="2952750" cy="114300"/>
          </a:xfrm>
          <a:prstGeom prst="rect">
            <a:avLst/>
          </a:prstGeom>
          <a:solidFill>
            <a:srgbClr val="E8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9DB6083-DCE4-4114-9F72-D8F8DE0761A1}"/>
              </a:ext>
            </a:extLst>
          </p:cNvPr>
          <p:cNvSpPr>
            <a:spLocks noGrp="1"/>
          </p:cNvSpPr>
          <p:nvPr/>
        </p:nvSpPr>
        <p:spPr>
          <a:xfrm>
            <a:off x="8020050" y="4657725"/>
            <a:ext cx="916371" cy="1143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7B21914F-CB8E-40DA-BA80-00A3D443704B}"/>
              </a:ext>
            </a:extLst>
          </p:cNvPr>
          <p:cNvSpPr>
            <a:spLocks noGrp="1"/>
          </p:cNvSpPr>
          <p:nvPr/>
        </p:nvSpPr>
        <p:spPr>
          <a:xfrm>
            <a:off x="11087100" y="461010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D243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4FC32C2E-9372-46AA-BA46-7519CF867DBA}"/>
              </a:ext>
            </a:extLst>
          </p:cNvPr>
          <p:cNvSpPr>
            <a:spLocks noGrp="1"/>
          </p:cNvSpPr>
          <p:nvPr/>
        </p:nvSpPr>
        <p:spPr>
          <a:xfrm>
            <a:off x="6305550" y="49149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研究上下文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762C7FC9-D3FE-4703-A449-A5FB4E73F8D7}"/>
              </a:ext>
            </a:extLst>
          </p:cNvPr>
          <p:cNvSpPr>
            <a:spLocks noGrp="1"/>
          </p:cNvSpPr>
          <p:nvPr/>
        </p:nvSpPr>
        <p:spPr>
          <a:xfrm>
            <a:off x="8020050" y="4953000"/>
            <a:ext cx="2952750" cy="114300"/>
          </a:xfrm>
          <a:prstGeom prst="rect">
            <a:avLst/>
          </a:prstGeom>
          <a:solidFill>
            <a:srgbClr val="E8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5E038F2-3A88-449B-A381-ABD2D90BFB39}"/>
              </a:ext>
            </a:extLst>
          </p:cNvPr>
          <p:cNvSpPr>
            <a:spLocks noGrp="1"/>
          </p:cNvSpPr>
          <p:nvPr/>
        </p:nvSpPr>
        <p:spPr>
          <a:xfrm>
            <a:off x="8020050" y="4953000"/>
            <a:ext cx="509095" cy="1143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69330166-66A4-4A71-AED7-394DA920346F}"/>
              </a:ext>
            </a:extLst>
          </p:cNvPr>
          <p:cNvSpPr>
            <a:spLocks noGrp="1"/>
          </p:cNvSpPr>
          <p:nvPr/>
        </p:nvSpPr>
        <p:spPr>
          <a:xfrm>
            <a:off x="11087100" y="4905375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D243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A86E93EF-2AF8-4889-9D3F-0479DF10B965}"/>
              </a:ext>
            </a:extLst>
          </p:cNvPr>
          <p:cNvSpPr>
            <a:spLocks noGrp="1"/>
          </p:cNvSpPr>
          <p:nvPr/>
        </p:nvSpPr>
        <p:spPr>
          <a:xfrm>
            <a:off x="6305550" y="521017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安全规则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51E7DEC1-DDD2-40F1-BB49-18E174A43995}"/>
              </a:ext>
            </a:extLst>
          </p:cNvPr>
          <p:cNvSpPr>
            <a:spLocks noGrp="1"/>
          </p:cNvSpPr>
          <p:nvPr/>
        </p:nvSpPr>
        <p:spPr>
          <a:xfrm>
            <a:off x="8020050" y="5248275"/>
            <a:ext cx="2952750" cy="114300"/>
          </a:xfrm>
          <a:prstGeom prst="rect">
            <a:avLst/>
          </a:prstGeom>
          <a:solidFill>
            <a:srgbClr val="E8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7358B37-F5FB-48C4-9D1E-F55CEEB7FD86}"/>
              </a:ext>
            </a:extLst>
          </p:cNvPr>
          <p:cNvSpPr>
            <a:spLocks noGrp="1"/>
          </p:cNvSpPr>
          <p:nvPr/>
        </p:nvSpPr>
        <p:spPr>
          <a:xfrm>
            <a:off x="8020050" y="5248275"/>
            <a:ext cx="458185" cy="11430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52E41148-B61C-402C-A997-320FABE9619A}"/>
              </a:ext>
            </a:extLst>
          </p:cNvPr>
          <p:cNvSpPr>
            <a:spLocks noGrp="1"/>
          </p:cNvSpPr>
          <p:nvPr/>
        </p:nvSpPr>
        <p:spPr>
          <a:xfrm>
            <a:off x="11087100" y="520065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D243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0235B10B-46ED-4BE1-A3C4-6FD9100425E6}"/>
              </a:ext>
            </a:extLst>
          </p:cNvPr>
          <p:cNvSpPr>
            <a:spLocks noGrp="1"/>
          </p:cNvSpPr>
          <p:nvPr/>
        </p:nvSpPr>
        <p:spPr>
          <a:xfrm>
            <a:off x="6305550" y="55054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科学声明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9B29B5D2-80C7-4D70-AF82-E8932A0C5C29}"/>
              </a:ext>
            </a:extLst>
          </p:cNvPr>
          <p:cNvSpPr>
            <a:spLocks noGrp="1"/>
          </p:cNvSpPr>
          <p:nvPr/>
        </p:nvSpPr>
        <p:spPr>
          <a:xfrm>
            <a:off x="8020050" y="5543550"/>
            <a:ext cx="2952750" cy="114300"/>
          </a:xfrm>
          <a:prstGeom prst="rect">
            <a:avLst/>
          </a:prstGeom>
          <a:solidFill>
            <a:srgbClr val="E8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FAC11178-C262-4F3C-AAC4-65CC58D8C893}"/>
              </a:ext>
            </a:extLst>
          </p:cNvPr>
          <p:cNvSpPr>
            <a:spLocks noGrp="1"/>
          </p:cNvSpPr>
          <p:nvPr/>
        </p:nvSpPr>
        <p:spPr>
          <a:xfrm>
            <a:off x="8020050" y="5543550"/>
            <a:ext cx="305457" cy="1143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12F34FE4-2A41-49FD-A4E9-FA03FEBF3325}"/>
              </a:ext>
            </a:extLst>
          </p:cNvPr>
          <p:cNvSpPr>
            <a:spLocks noGrp="1"/>
          </p:cNvSpPr>
          <p:nvPr/>
        </p:nvSpPr>
        <p:spPr>
          <a:xfrm>
            <a:off x="11087100" y="5495925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D243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D499373B-B33E-4CDE-8C76-703767C07087}"/>
              </a:ext>
            </a:extLst>
          </p:cNvPr>
          <p:cNvSpPr>
            <a:spLocks noGrp="1"/>
          </p:cNvSpPr>
          <p:nvPr/>
        </p:nvSpPr>
        <p:spPr>
          <a:xfrm>
            <a:off x="704850" y="6076950"/>
            <a:ext cx="981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讲解口径：这里不是“文献越多越好”，而是每条来源都带 topic、evidence_class、allowed_uses，报告只能在允许用途里引用。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4CBABD1-2BC9-41A4-8B47-F400CB6EBDCC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A6F65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7A6F65"/>
                </a:solidFill>
                <a:latin typeface="PingFang SC"/>
                <a:ea typeface="PingFang SC"/>
                <a:cs typeface="PingFang SC"/>
              </a:rPr>
              <a:t>source: kb_audit_report.json, source_screening_report.json, quality_gate_report.json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408FAD84-5576-42D9-A1C6-D7A0579FC63C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88475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矩形 91">
            <a:extLst>
              <a:ext uri="{FF2B5EF4-FFF2-40B4-BE49-F238E27FC236}">
                <a16:creationId xmlns:a16="http://schemas.microsoft.com/office/drawing/2014/main" id="{8B0B828F-9DB3-4C65-B112-B2857C3770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D9F005-3A77-433D-994B-764CCBBF14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D83A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09D45C4-76A0-4FFD-97D3-906AFB305E68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SOURCE LIST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3961AD-9287-4346-AC56-9F0FB7C6DE6A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287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D243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文献列表展示方式：按证据等级和可用于报告的场景讲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19E1AF-ECCE-4200-82D4-06BA48A5BFCA}"/>
              </a:ext>
            </a:extLst>
          </p:cNvPr>
          <p:cNvSpPr>
            <a:spLocks noGrp="1"/>
          </p:cNvSpPr>
          <p:nvPr/>
        </p:nvSpPr>
        <p:spPr>
          <a:xfrm>
            <a:off x="628650" y="148590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现场不需要滚完 126 条，重点展示“来源可追溯、用途可约束、清单可导出”。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939E63-1B0D-41E8-A5A7-FC3738F73991}"/>
              </a:ext>
            </a:extLst>
          </p:cNvPr>
          <p:cNvSpPr>
            <a:spLocks noGrp="1"/>
          </p:cNvSpPr>
          <p:nvPr/>
        </p:nvSpPr>
        <p:spPr>
          <a:xfrm>
            <a:off x="590550" y="1885950"/>
            <a:ext cx="2476500" cy="457200"/>
          </a:xfrm>
          <a:prstGeom prst="rect">
            <a:avLst/>
          </a:prstGeom>
          <a:solidFill>
            <a:srgbClr val="1D2433"/>
          </a:solidFill>
          <a:ln w="6668">
            <a:solidFill>
              <a:srgbClr val="1D2433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8D549B-625D-4ACF-9E63-9AA6B4FBD79A}"/>
              </a:ext>
            </a:extLst>
          </p:cNvPr>
          <p:cNvSpPr>
            <a:spLocks noGrp="1"/>
          </p:cNvSpPr>
          <p:nvPr/>
        </p:nvSpPr>
        <p:spPr>
          <a:xfrm>
            <a:off x="666750" y="1962150"/>
            <a:ext cx="2324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代表性来源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CB26DAF-CF6E-4A72-A505-688B3BDB76DB}"/>
              </a:ext>
            </a:extLst>
          </p:cNvPr>
          <p:cNvSpPr>
            <a:spLocks noGrp="1"/>
          </p:cNvSpPr>
          <p:nvPr/>
        </p:nvSpPr>
        <p:spPr>
          <a:xfrm>
            <a:off x="3067050" y="1885950"/>
            <a:ext cx="2143125" cy="457200"/>
          </a:xfrm>
          <a:prstGeom prst="rect">
            <a:avLst/>
          </a:prstGeom>
          <a:solidFill>
            <a:srgbClr val="1D2433"/>
          </a:solidFill>
          <a:ln w="6668">
            <a:solidFill>
              <a:srgbClr val="1D2433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F32C5F0-F150-4A31-9DC7-3DEC7092A634}"/>
              </a:ext>
            </a:extLst>
          </p:cNvPr>
          <p:cNvSpPr>
            <a:spLocks noGrp="1"/>
          </p:cNvSpPr>
          <p:nvPr/>
        </p:nvSpPr>
        <p:spPr>
          <a:xfrm>
            <a:off x="3143250" y="1962150"/>
            <a:ext cx="19907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机构 / 组织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12BDA54-1615-454A-93DE-13C21029F082}"/>
              </a:ext>
            </a:extLst>
          </p:cNvPr>
          <p:cNvSpPr>
            <a:spLocks noGrp="1"/>
          </p:cNvSpPr>
          <p:nvPr/>
        </p:nvSpPr>
        <p:spPr>
          <a:xfrm>
            <a:off x="5210175" y="1885950"/>
            <a:ext cx="1381125" cy="457200"/>
          </a:xfrm>
          <a:prstGeom prst="rect">
            <a:avLst/>
          </a:prstGeom>
          <a:solidFill>
            <a:srgbClr val="1D2433"/>
          </a:solidFill>
          <a:ln w="6668">
            <a:solidFill>
              <a:srgbClr val="1D2433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999E89B-A989-467A-BB3E-8D7039914D79}"/>
              </a:ext>
            </a:extLst>
          </p:cNvPr>
          <p:cNvSpPr>
            <a:spLocks noGrp="1"/>
          </p:cNvSpPr>
          <p:nvPr/>
        </p:nvSpPr>
        <p:spPr>
          <a:xfrm>
            <a:off x="5286375" y="1962150"/>
            <a:ext cx="12287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证据等级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5E06BC-34A7-4E13-8AA8-4676D3465530}"/>
              </a:ext>
            </a:extLst>
          </p:cNvPr>
          <p:cNvSpPr>
            <a:spLocks noGrp="1"/>
          </p:cNvSpPr>
          <p:nvPr/>
        </p:nvSpPr>
        <p:spPr>
          <a:xfrm>
            <a:off x="6591300" y="1885950"/>
            <a:ext cx="1381125" cy="457200"/>
          </a:xfrm>
          <a:prstGeom prst="rect">
            <a:avLst/>
          </a:prstGeom>
          <a:solidFill>
            <a:srgbClr val="1D2433"/>
          </a:solidFill>
          <a:ln w="6668">
            <a:solidFill>
              <a:srgbClr val="1D2433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CEFDE3-D750-4614-BB65-888FEA1D9C08}"/>
              </a:ext>
            </a:extLst>
          </p:cNvPr>
          <p:cNvSpPr>
            <a:spLocks noGrp="1"/>
          </p:cNvSpPr>
          <p:nvPr/>
        </p:nvSpPr>
        <p:spPr>
          <a:xfrm>
            <a:off x="6667500" y="1962150"/>
            <a:ext cx="12287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主题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A383ADF-109F-41E1-A501-45F17C6666C0}"/>
              </a:ext>
            </a:extLst>
          </p:cNvPr>
          <p:cNvSpPr>
            <a:spLocks noGrp="1"/>
          </p:cNvSpPr>
          <p:nvPr/>
        </p:nvSpPr>
        <p:spPr>
          <a:xfrm>
            <a:off x="7972425" y="1885950"/>
            <a:ext cx="2952750" cy="457200"/>
          </a:xfrm>
          <a:prstGeom prst="rect">
            <a:avLst/>
          </a:prstGeom>
          <a:solidFill>
            <a:srgbClr val="1D2433"/>
          </a:solidFill>
          <a:ln w="6668">
            <a:solidFill>
              <a:srgbClr val="1D2433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03C26B6-0D65-4BAD-B7FA-1B29D18D3C66}"/>
              </a:ext>
            </a:extLst>
          </p:cNvPr>
          <p:cNvSpPr>
            <a:spLocks noGrp="1"/>
          </p:cNvSpPr>
          <p:nvPr/>
        </p:nvSpPr>
        <p:spPr>
          <a:xfrm>
            <a:off x="8048625" y="1962150"/>
            <a:ext cx="2800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报告中的作用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561821-0A34-4302-90F8-4C18925E9016}"/>
              </a:ext>
            </a:extLst>
          </p:cNvPr>
          <p:cNvSpPr>
            <a:spLocks noGrp="1"/>
          </p:cNvSpPr>
          <p:nvPr/>
        </p:nvSpPr>
        <p:spPr>
          <a:xfrm>
            <a:off x="590550" y="2343150"/>
            <a:ext cx="2476500" cy="457200"/>
          </a:xfrm>
          <a:prstGeom prst="rect">
            <a:avLst/>
          </a:prstGeom>
          <a:solidFill>
            <a:srgbClr val="FFFFFF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B3F3F82-5437-4B34-B9C6-F54A3D9E903C}"/>
              </a:ext>
            </a:extLst>
          </p:cNvPr>
          <p:cNvSpPr>
            <a:spLocks noGrp="1"/>
          </p:cNvSpPr>
          <p:nvPr/>
        </p:nvSpPr>
        <p:spPr>
          <a:xfrm>
            <a:off x="666750" y="2419350"/>
            <a:ext cx="2324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基层医疗卫生机构高血压防治管理标准 WS/T 872-2025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FE3FFC0-1510-4B8E-8237-F5B321925EC0}"/>
              </a:ext>
            </a:extLst>
          </p:cNvPr>
          <p:cNvSpPr>
            <a:spLocks noGrp="1"/>
          </p:cNvSpPr>
          <p:nvPr/>
        </p:nvSpPr>
        <p:spPr>
          <a:xfrm>
            <a:off x="3067050" y="2343150"/>
            <a:ext cx="2143125" cy="457200"/>
          </a:xfrm>
          <a:prstGeom prst="rect">
            <a:avLst/>
          </a:prstGeom>
          <a:solidFill>
            <a:srgbClr val="FFFFFF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8B05263-9A58-4ECA-BCE9-8893219565AF}"/>
              </a:ext>
            </a:extLst>
          </p:cNvPr>
          <p:cNvSpPr>
            <a:spLocks noGrp="1"/>
          </p:cNvSpPr>
          <p:nvPr/>
        </p:nvSpPr>
        <p:spPr>
          <a:xfrm>
            <a:off x="3143250" y="2419350"/>
            <a:ext cx="19907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国家卫健委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000A517-A7C4-4D98-9D10-EF6E8856354D}"/>
              </a:ext>
            </a:extLst>
          </p:cNvPr>
          <p:cNvSpPr>
            <a:spLocks noGrp="1"/>
          </p:cNvSpPr>
          <p:nvPr/>
        </p:nvSpPr>
        <p:spPr>
          <a:xfrm>
            <a:off x="5210175" y="2343150"/>
            <a:ext cx="1381125" cy="457200"/>
          </a:xfrm>
          <a:prstGeom prst="rect">
            <a:avLst/>
          </a:prstGeom>
          <a:solidFill>
            <a:srgbClr val="FFFFFF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9B0EADA-6D31-476F-A733-8781AB1D73B9}"/>
              </a:ext>
            </a:extLst>
          </p:cNvPr>
          <p:cNvSpPr>
            <a:spLocks noGrp="1"/>
          </p:cNvSpPr>
          <p:nvPr/>
        </p:nvSpPr>
        <p:spPr>
          <a:xfrm>
            <a:off x="5286375" y="2419350"/>
            <a:ext cx="12287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guideline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8D94381-8C48-4015-A241-D42758D94CB5}"/>
              </a:ext>
            </a:extLst>
          </p:cNvPr>
          <p:cNvSpPr>
            <a:spLocks noGrp="1"/>
          </p:cNvSpPr>
          <p:nvPr/>
        </p:nvSpPr>
        <p:spPr>
          <a:xfrm>
            <a:off x="6591300" y="2343150"/>
            <a:ext cx="1381125" cy="457200"/>
          </a:xfrm>
          <a:prstGeom prst="rect">
            <a:avLst/>
          </a:prstGeom>
          <a:solidFill>
            <a:srgbClr val="FFFFFF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C2F7FD8-9E04-4ADD-89ED-30859DDB159D}"/>
              </a:ext>
            </a:extLst>
          </p:cNvPr>
          <p:cNvSpPr>
            <a:spLocks noGrp="1"/>
          </p:cNvSpPr>
          <p:nvPr/>
        </p:nvSpPr>
        <p:spPr>
          <a:xfrm>
            <a:off x="6667500" y="2419350"/>
            <a:ext cx="12287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家庭监测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7A46242-5DE4-4F5E-A180-9D0FB30D8C08}"/>
              </a:ext>
            </a:extLst>
          </p:cNvPr>
          <p:cNvSpPr>
            <a:spLocks noGrp="1"/>
          </p:cNvSpPr>
          <p:nvPr/>
        </p:nvSpPr>
        <p:spPr>
          <a:xfrm>
            <a:off x="7972425" y="2343150"/>
            <a:ext cx="2952750" cy="457200"/>
          </a:xfrm>
          <a:prstGeom prst="rect">
            <a:avLst/>
          </a:prstGeom>
          <a:solidFill>
            <a:srgbClr val="FFFFFF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448FA62-2D39-439A-9DE3-7A86B97A94D4}"/>
              </a:ext>
            </a:extLst>
          </p:cNvPr>
          <p:cNvSpPr>
            <a:spLocks noGrp="1"/>
          </p:cNvSpPr>
          <p:nvPr/>
        </p:nvSpPr>
        <p:spPr>
          <a:xfrm>
            <a:off x="8048625" y="2419350"/>
            <a:ext cx="2800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基层管理、复测和随访口径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F9138BB-632C-4A05-B3F6-21EE5E7F7C72}"/>
              </a:ext>
            </a:extLst>
          </p:cNvPr>
          <p:cNvSpPr>
            <a:spLocks noGrp="1"/>
          </p:cNvSpPr>
          <p:nvPr/>
        </p:nvSpPr>
        <p:spPr>
          <a:xfrm>
            <a:off x="590550" y="2800350"/>
            <a:ext cx="2476500" cy="457200"/>
          </a:xfrm>
          <a:prstGeom prst="rect">
            <a:avLst/>
          </a:prstGeom>
          <a:solidFill>
            <a:srgbClr val="FBFAF6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E811101-5D7F-4AA6-85FF-9AF373FCD6C6}"/>
              </a:ext>
            </a:extLst>
          </p:cNvPr>
          <p:cNvSpPr>
            <a:spLocks noGrp="1"/>
          </p:cNvSpPr>
          <p:nvPr/>
        </p:nvSpPr>
        <p:spPr>
          <a:xfrm>
            <a:off x="666750" y="2876550"/>
            <a:ext cx="2324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国家基层高血压防治管理指南（2020版）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BE42570-FDA4-4EAC-9884-40AA8D42A934}"/>
              </a:ext>
            </a:extLst>
          </p:cNvPr>
          <p:cNvSpPr>
            <a:spLocks noGrp="1"/>
          </p:cNvSpPr>
          <p:nvPr/>
        </p:nvSpPr>
        <p:spPr>
          <a:xfrm>
            <a:off x="3067050" y="2800350"/>
            <a:ext cx="2143125" cy="457200"/>
          </a:xfrm>
          <a:prstGeom prst="rect">
            <a:avLst/>
          </a:prstGeom>
          <a:solidFill>
            <a:srgbClr val="FBFAF6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4832907-E107-48A1-A3C0-C20B5CF1E073}"/>
              </a:ext>
            </a:extLst>
          </p:cNvPr>
          <p:cNvSpPr>
            <a:spLocks noGrp="1"/>
          </p:cNvSpPr>
          <p:nvPr/>
        </p:nvSpPr>
        <p:spPr>
          <a:xfrm>
            <a:off x="3143250" y="2876550"/>
            <a:ext cx="19907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国家心血管病中心等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1D6EF70-0915-4A74-BA18-23A074A459E1}"/>
              </a:ext>
            </a:extLst>
          </p:cNvPr>
          <p:cNvSpPr>
            <a:spLocks noGrp="1"/>
          </p:cNvSpPr>
          <p:nvPr/>
        </p:nvSpPr>
        <p:spPr>
          <a:xfrm>
            <a:off x="5210175" y="2800350"/>
            <a:ext cx="1381125" cy="457200"/>
          </a:xfrm>
          <a:prstGeom prst="rect">
            <a:avLst/>
          </a:prstGeom>
          <a:solidFill>
            <a:srgbClr val="FBFAF6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925EF6A-721D-4402-8B15-BAC0F03E1657}"/>
              </a:ext>
            </a:extLst>
          </p:cNvPr>
          <p:cNvSpPr>
            <a:spLocks noGrp="1"/>
          </p:cNvSpPr>
          <p:nvPr/>
        </p:nvSpPr>
        <p:spPr>
          <a:xfrm>
            <a:off x="5286375" y="2876550"/>
            <a:ext cx="12287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guideline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3FE74A3-4B92-4A77-B35F-D003F973CE2F}"/>
              </a:ext>
            </a:extLst>
          </p:cNvPr>
          <p:cNvSpPr>
            <a:spLocks noGrp="1"/>
          </p:cNvSpPr>
          <p:nvPr/>
        </p:nvSpPr>
        <p:spPr>
          <a:xfrm>
            <a:off x="6591300" y="2800350"/>
            <a:ext cx="1381125" cy="457200"/>
          </a:xfrm>
          <a:prstGeom prst="rect">
            <a:avLst/>
          </a:prstGeom>
          <a:solidFill>
            <a:srgbClr val="FBFAF6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459C851-908A-4257-8DBE-A668151AC32E}"/>
              </a:ext>
            </a:extLst>
          </p:cNvPr>
          <p:cNvSpPr>
            <a:spLocks noGrp="1"/>
          </p:cNvSpPr>
          <p:nvPr/>
        </p:nvSpPr>
        <p:spPr>
          <a:xfrm>
            <a:off x="6667500" y="2876550"/>
            <a:ext cx="12287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家庭监测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DADFDB3-A035-4D6F-A80D-BCDD39576FEB}"/>
              </a:ext>
            </a:extLst>
          </p:cNvPr>
          <p:cNvSpPr>
            <a:spLocks noGrp="1"/>
          </p:cNvSpPr>
          <p:nvPr/>
        </p:nvSpPr>
        <p:spPr>
          <a:xfrm>
            <a:off x="7972425" y="2800350"/>
            <a:ext cx="2952750" cy="457200"/>
          </a:xfrm>
          <a:prstGeom prst="rect">
            <a:avLst/>
          </a:prstGeom>
          <a:solidFill>
            <a:srgbClr val="FBFAF6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67FAFF0-817A-4E27-820B-4F92240F9B72}"/>
              </a:ext>
            </a:extLst>
          </p:cNvPr>
          <p:cNvSpPr>
            <a:spLocks noGrp="1"/>
          </p:cNvSpPr>
          <p:nvPr/>
        </p:nvSpPr>
        <p:spPr>
          <a:xfrm>
            <a:off x="8048625" y="2876550"/>
            <a:ext cx="2800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中国基层路径与规范管理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DC15BAD-7A81-47B1-BE9E-A88B4930FA7A}"/>
              </a:ext>
            </a:extLst>
          </p:cNvPr>
          <p:cNvSpPr>
            <a:spLocks noGrp="1"/>
          </p:cNvSpPr>
          <p:nvPr/>
        </p:nvSpPr>
        <p:spPr>
          <a:xfrm>
            <a:off x="590550" y="3257550"/>
            <a:ext cx="2476500" cy="457200"/>
          </a:xfrm>
          <a:prstGeom prst="rect">
            <a:avLst/>
          </a:prstGeom>
          <a:solidFill>
            <a:srgbClr val="FFFFFF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5C21AA4-7EAB-4A9C-B60A-7D4F0027B36E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2324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成人高血压食养指南（2023年版）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2918540-6BA9-4577-AC92-3E59C37A2543}"/>
              </a:ext>
            </a:extLst>
          </p:cNvPr>
          <p:cNvSpPr>
            <a:spLocks noGrp="1"/>
          </p:cNvSpPr>
          <p:nvPr/>
        </p:nvSpPr>
        <p:spPr>
          <a:xfrm>
            <a:off x="3067050" y="3257550"/>
            <a:ext cx="2143125" cy="457200"/>
          </a:xfrm>
          <a:prstGeom prst="rect">
            <a:avLst/>
          </a:prstGeom>
          <a:solidFill>
            <a:srgbClr val="FFFFFF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480B617-D547-44F9-9930-40B8B79811A5}"/>
              </a:ext>
            </a:extLst>
          </p:cNvPr>
          <p:cNvSpPr>
            <a:spLocks noGrp="1"/>
          </p:cNvSpPr>
          <p:nvPr/>
        </p:nvSpPr>
        <p:spPr>
          <a:xfrm>
            <a:off x="3143250" y="3333750"/>
            <a:ext cx="19907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国家卫健委办公厅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8E9793B-DE43-4CC1-9A52-31D4FF88CE46}"/>
              </a:ext>
            </a:extLst>
          </p:cNvPr>
          <p:cNvSpPr>
            <a:spLocks noGrp="1"/>
          </p:cNvSpPr>
          <p:nvPr/>
        </p:nvSpPr>
        <p:spPr>
          <a:xfrm>
            <a:off x="5210175" y="3257550"/>
            <a:ext cx="1381125" cy="457200"/>
          </a:xfrm>
          <a:prstGeom prst="rect">
            <a:avLst/>
          </a:prstGeom>
          <a:solidFill>
            <a:srgbClr val="FFFFFF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B43F94D-5B80-41A1-B90A-00161C202119}"/>
              </a:ext>
            </a:extLst>
          </p:cNvPr>
          <p:cNvSpPr>
            <a:spLocks noGrp="1"/>
          </p:cNvSpPr>
          <p:nvPr/>
        </p:nvSpPr>
        <p:spPr>
          <a:xfrm>
            <a:off x="5286375" y="3333750"/>
            <a:ext cx="12287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guideline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B3C3A29-C6F2-484E-A5F7-1294CE936742}"/>
              </a:ext>
            </a:extLst>
          </p:cNvPr>
          <p:cNvSpPr>
            <a:spLocks noGrp="1"/>
          </p:cNvSpPr>
          <p:nvPr/>
        </p:nvSpPr>
        <p:spPr>
          <a:xfrm>
            <a:off x="6591300" y="3257550"/>
            <a:ext cx="1381125" cy="457200"/>
          </a:xfrm>
          <a:prstGeom prst="rect">
            <a:avLst/>
          </a:prstGeom>
          <a:solidFill>
            <a:srgbClr val="FFFFFF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094ED0-22BD-4735-8772-8C99E41C2391}"/>
              </a:ext>
            </a:extLst>
          </p:cNvPr>
          <p:cNvSpPr>
            <a:spLocks noGrp="1"/>
          </p:cNvSpPr>
          <p:nvPr/>
        </p:nvSpPr>
        <p:spPr>
          <a:xfrm>
            <a:off x="6667500" y="3333750"/>
            <a:ext cx="12287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生活方式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05E5E17-1FDE-4E57-898D-B83BE895394E}"/>
              </a:ext>
            </a:extLst>
          </p:cNvPr>
          <p:cNvSpPr>
            <a:spLocks noGrp="1"/>
          </p:cNvSpPr>
          <p:nvPr/>
        </p:nvSpPr>
        <p:spPr>
          <a:xfrm>
            <a:off x="7972425" y="3257550"/>
            <a:ext cx="2952750" cy="457200"/>
          </a:xfrm>
          <a:prstGeom prst="rect">
            <a:avLst/>
          </a:prstGeom>
          <a:solidFill>
            <a:srgbClr val="FFFFFF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11E779D-AB5C-40EB-A0D5-9E308FD0710A}"/>
              </a:ext>
            </a:extLst>
          </p:cNvPr>
          <p:cNvSpPr>
            <a:spLocks noGrp="1"/>
          </p:cNvSpPr>
          <p:nvPr/>
        </p:nvSpPr>
        <p:spPr>
          <a:xfrm>
            <a:off x="8048625" y="3333750"/>
            <a:ext cx="2800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减盐、膳食、长期健康教育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F104378-7BEF-4E42-BB1A-196E2D730A79}"/>
              </a:ext>
            </a:extLst>
          </p:cNvPr>
          <p:cNvSpPr>
            <a:spLocks noGrp="1"/>
          </p:cNvSpPr>
          <p:nvPr/>
        </p:nvSpPr>
        <p:spPr>
          <a:xfrm>
            <a:off x="590550" y="3714750"/>
            <a:ext cx="2476500" cy="457200"/>
          </a:xfrm>
          <a:prstGeom prst="rect">
            <a:avLst/>
          </a:prstGeom>
          <a:solidFill>
            <a:srgbClr val="FBFAF6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CF6E490-2805-4E68-9843-FE3F8F0B0558}"/>
              </a:ext>
            </a:extLst>
          </p:cNvPr>
          <p:cNvSpPr>
            <a:spLocks noGrp="1"/>
          </p:cNvSpPr>
          <p:nvPr/>
        </p:nvSpPr>
        <p:spPr>
          <a:xfrm>
            <a:off x="666750" y="3790950"/>
            <a:ext cx="2324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高血压营养和运动指导原则（2024年版）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1137C98-F2EA-476E-BCAC-EAE29F5516F8}"/>
              </a:ext>
            </a:extLst>
          </p:cNvPr>
          <p:cNvSpPr>
            <a:spLocks noGrp="1"/>
          </p:cNvSpPr>
          <p:nvPr/>
        </p:nvSpPr>
        <p:spPr>
          <a:xfrm>
            <a:off x="3067050" y="3714750"/>
            <a:ext cx="2143125" cy="457200"/>
          </a:xfrm>
          <a:prstGeom prst="rect">
            <a:avLst/>
          </a:prstGeom>
          <a:solidFill>
            <a:srgbClr val="FBFAF6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D0F687D-7948-4522-88D1-289DE02DA312}"/>
              </a:ext>
            </a:extLst>
          </p:cNvPr>
          <p:cNvSpPr>
            <a:spLocks noGrp="1"/>
          </p:cNvSpPr>
          <p:nvPr/>
        </p:nvSpPr>
        <p:spPr>
          <a:xfrm>
            <a:off x="3143250" y="3790950"/>
            <a:ext cx="19907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国家卫健委办公厅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A2B121C-B85C-470D-9414-3A76C89E50B9}"/>
              </a:ext>
            </a:extLst>
          </p:cNvPr>
          <p:cNvSpPr>
            <a:spLocks noGrp="1"/>
          </p:cNvSpPr>
          <p:nvPr/>
        </p:nvSpPr>
        <p:spPr>
          <a:xfrm>
            <a:off x="5210175" y="3714750"/>
            <a:ext cx="1381125" cy="457200"/>
          </a:xfrm>
          <a:prstGeom prst="rect">
            <a:avLst/>
          </a:prstGeom>
          <a:solidFill>
            <a:srgbClr val="FBFAF6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7A2C08D-DDF7-4CBA-BD3D-A8998508AAA5}"/>
              </a:ext>
            </a:extLst>
          </p:cNvPr>
          <p:cNvSpPr>
            <a:spLocks noGrp="1"/>
          </p:cNvSpPr>
          <p:nvPr/>
        </p:nvSpPr>
        <p:spPr>
          <a:xfrm>
            <a:off x="5286375" y="3790950"/>
            <a:ext cx="12287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official education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A8B8DEB-EEA5-4EAD-A392-9ECAF04109B1}"/>
              </a:ext>
            </a:extLst>
          </p:cNvPr>
          <p:cNvSpPr>
            <a:spLocks noGrp="1"/>
          </p:cNvSpPr>
          <p:nvPr/>
        </p:nvSpPr>
        <p:spPr>
          <a:xfrm>
            <a:off x="6591300" y="3714750"/>
            <a:ext cx="1381125" cy="457200"/>
          </a:xfrm>
          <a:prstGeom prst="rect">
            <a:avLst/>
          </a:prstGeom>
          <a:solidFill>
            <a:srgbClr val="FBFAF6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6A9CF80-11DF-4A33-9B20-24AA80CACA62}"/>
              </a:ext>
            </a:extLst>
          </p:cNvPr>
          <p:cNvSpPr>
            <a:spLocks noGrp="1"/>
          </p:cNvSpPr>
          <p:nvPr/>
        </p:nvSpPr>
        <p:spPr>
          <a:xfrm>
            <a:off x="6667500" y="3790950"/>
            <a:ext cx="12287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生活方式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3D74A9E-2C58-4A04-A51D-265F696DB984}"/>
              </a:ext>
            </a:extLst>
          </p:cNvPr>
          <p:cNvSpPr>
            <a:spLocks noGrp="1"/>
          </p:cNvSpPr>
          <p:nvPr/>
        </p:nvSpPr>
        <p:spPr>
          <a:xfrm>
            <a:off x="7972425" y="3714750"/>
            <a:ext cx="2952750" cy="457200"/>
          </a:xfrm>
          <a:prstGeom prst="rect">
            <a:avLst/>
          </a:prstGeom>
          <a:solidFill>
            <a:srgbClr val="FBFAF6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EEDBEC2-765D-43A9-A29C-69447AB25030}"/>
              </a:ext>
            </a:extLst>
          </p:cNvPr>
          <p:cNvSpPr>
            <a:spLocks noGrp="1"/>
          </p:cNvSpPr>
          <p:nvPr/>
        </p:nvSpPr>
        <p:spPr>
          <a:xfrm>
            <a:off x="8048625" y="3790950"/>
            <a:ext cx="2800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营养和运动建议边界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2FC2151-DE4F-4FE1-B587-61213EACB277}"/>
              </a:ext>
            </a:extLst>
          </p:cNvPr>
          <p:cNvSpPr>
            <a:spLocks noGrp="1"/>
          </p:cNvSpPr>
          <p:nvPr/>
        </p:nvSpPr>
        <p:spPr>
          <a:xfrm>
            <a:off x="590550" y="4171950"/>
            <a:ext cx="2476500" cy="457200"/>
          </a:xfrm>
          <a:prstGeom prst="rect">
            <a:avLst/>
          </a:prstGeom>
          <a:solidFill>
            <a:srgbClr val="FFFFFF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4A536AD-9B33-4A62-94B3-D5AF2B0CFC96}"/>
              </a:ext>
            </a:extLst>
          </p:cNvPr>
          <p:cNvSpPr>
            <a:spLocks noGrp="1"/>
          </p:cNvSpPr>
          <p:nvPr/>
        </p:nvSpPr>
        <p:spPr>
          <a:xfrm>
            <a:off x="666750" y="4248150"/>
            <a:ext cx="2324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Measurement of Blood Pressure in Humans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C3C7A16-37F7-4683-84C4-4DDB75636BE9}"/>
              </a:ext>
            </a:extLst>
          </p:cNvPr>
          <p:cNvSpPr>
            <a:spLocks noGrp="1"/>
          </p:cNvSpPr>
          <p:nvPr/>
        </p:nvSpPr>
        <p:spPr>
          <a:xfrm>
            <a:off x="3067050" y="4171950"/>
            <a:ext cx="2143125" cy="457200"/>
          </a:xfrm>
          <a:prstGeom prst="rect">
            <a:avLst/>
          </a:prstGeom>
          <a:solidFill>
            <a:srgbClr val="FFFFFF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E28DDCFB-98B4-4B50-B052-90272EBA0B09}"/>
              </a:ext>
            </a:extLst>
          </p:cNvPr>
          <p:cNvSpPr>
            <a:spLocks noGrp="1"/>
          </p:cNvSpPr>
          <p:nvPr/>
        </p:nvSpPr>
        <p:spPr>
          <a:xfrm>
            <a:off x="3143250" y="4248150"/>
            <a:ext cx="19907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AHA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0CF3CD7-4B67-44AE-8283-DB034CB942DD}"/>
              </a:ext>
            </a:extLst>
          </p:cNvPr>
          <p:cNvSpPr>
            <a:spLocks noGrp="1"/>
          </p:cNvSpPr>
          <p:nvPr/>
        </p:nvSpPr>
        <p:spPr>
          <a:xfrm>
            <a:off x="5210175" y="4171950"/>
            <a:ext cx="1381125" cy="457200"/>
          </a:xfrm>
          <a:prstGeom prst="rect">
            <a:avLst/>
          </a:prstGeom>
          <a:solidFill>
            <a:srgbClr val="FFFFFF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1F7E59E2-E9B4-4849-B3E7-5ED440885060}"/>
              </a:ext>
            </a:extLst>
          </p:cNvPr>
          <p:cNvSpPr>
            <a:spLocks noGrp="1"/>
          </p:cNvSpPr>
          <p:nvPr/>
        </p:nvSpPr>
        <p:spPr>
          <a:xfrm>
            <a:off x="5286375" y="4248150"/>
            <a:ext cx="12287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scientific statement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61E52F86-2D7F-4AA1-A014-5EBF84AAC661}"/>
              </a:ext>
            </a:extLst>
          </p:cNvPr>
          <p:cNvSpPr>
            <a:spLocks noGrp="1"/>
          </p:cNvSpPr>
          <p:nvPr/>
        </p:nvSpPr>
        <p:spPr>
          <a:xfrm>
            <a:off x="6591300" y="4171950"/>
            <a:ext cx="1381125" cy="457200"/>
          </a:xfrm>
          <a:prstGeom prst="rect">
            <a:avLst/>
          </a:prstGeom>
          <a:solidFill>
            <a:srgbClr val="FFFFFF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8D9D2270-99A2-4AB3-AB46-5976754BC854}"/>
              </a:ext>
            </a:extLst>
          </p:cNvPr>
          <p:cNvSpPr>
            <a:spLocks noGrp="1"/>
          </p:cNvSpPr>
          <p:nvPr/>
        </p:nvSpPr>
        <p:spPr>
          <a:xfrm>
            <a:off x="6667500" y="4248150"/>
            <a:ext cx="12287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测量质量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2294882-1C81-4B59-A366-28515C4EEF69}"/>
              </a:ext>
            </a:extLst>
          </p:cNvPr>
          <p:cNvSpPr>
            <a:spLocks noGrp="1"/>
          </p:cNvSpPr>
          <p:nvPr/>
        </p:nvSpPr>
        <p:spPr>
          <a:xfrm>
            <a:off x="7972425" y="4171950"/>
            <a:ext cx="2952750" cy="457200"/>
          </a:xfrm>
          <a:prstGeom prst="rect">
            <a:avLst/>
          </a:prstGeom>
          <a:solidFill>
            <a:srgbClr val="FFFFFF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90B3A71-D6FC-47F1-BC7F-561D0341F120}"/>
              </a:ext>
            </a:extLst>
          </p:cNvPr>
          <p:cNvSpPr>
            <a:spLocks noGrp="1"/>
          </p:cNvSpPr>
          <p:nvPr/>
        </p:nvSpPr>
        <p:spPr>
          <a:xfrm>
            <a:off x="8048625" y="4248150"/>
            <a:ext cx="2800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袖带测量与家庭记录原则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0E444FB2-26E3-445D-AC68-6F947899B5F6}"/>
              </a:ext>
            </a:extLst>
          </p:cNvPr>
          <p:cNvSpPr>
            <a:spLocks noGrp="1"/>
          </p:cNvSpPr>
          <p:nvPr/>
        </p:nvSpPr>
        <p:spPr>
          <a:xfrm>
            <a:off x="590550" y="4629150"/>
            <a:ext cx="2476500" cy="457200"/>
          </a:xfrm>
          <a:prstGeom prst="rect">
            <a:avLst/>
          </a:prstGeom>
          <a:solidFill>
            <a:srgbClr val="FBFAF6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A600990A-8012-49CD-A421-6880EF3BE19D}"/>
              </a:ext>
            </a:extLst>
          </p:cNvPr>
          <p:cNvSpPr>
            <a:spLocks noGrp="1"/>
          </p:cNvSpPr>
          <p:nvPr/>
        </p:nvSpPr>
        <p:spPr>
          <a:xfrm>
            <a:off x="666750" y="4705350"/>
            <a:ext cx="2324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Cuffless Devices for the Measurement of Blood Pressure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37C42640-78D8-4F9B-8315-6F296E41E444}"/>
              </a:ext>
            </a:extLst>
          </p:cNvPr>
          <p:cNvSpPr>
            <a:spLocks noGrp="1"/>
          </p:cNvSpPr>
          <p:nvPr/>
        </p:nvSpPr>
        <p:spPr>
          <a:xfrm>
            <a:off x="3067050" y="4629150"/>
            <a:ext cx="2143125" cy="457200"/>
          </a:xfrm>
          <a:prstGeom prst="rect">
            <a:avLst/>
          </a:prstGeom>
          <a:solidFill>
            <a:srgbClr val="FBFAF6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8799815A-79A6-476D-84D0-52DC85E67565}"/>
              </a:ext>
            </a:extLst>
          </p:cNvPr>
          <p:cNvSpPr>
            <a:spLocks noGrp="1"/>
          </p:cNvSpPr>
          <p:nvPr/>
        </p:nvSpPr>
        <p:spPr>
          <a:xfrm>
            <a:off x="3143250" y="4705350"/>
            <a:ext cx="19907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AHA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4745E11F-2562-4813-8968-CCF8045E087E}"/>
              </a:ext>
            </a:extLst>
          </p:cNvPr>
          <p:cNvSpPr>
            <a:spLocks noGrp="1"/>
          </p:cNvSpPr>
          <p:nvPr/>
        </p:nvSpPr>
        <p:spPr>
          <a:xfrm>
            <a:off x="5210175" y="4629150"/>
            <a:ext cx="1381125" cy="457200"/>
          </a:xfrm>
          <a:prstGeom prst="rect">
            <a:avLst/>
          </a:prstGeom>
          <a:solidFill>
            <a:srgbClr val="FBFAF6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A10A6AAB-D7AA-4D8D-81EF-1FB578969621}"/>
              </a:ext>
            </a:extLst>
          </p:cNvPr>
          <p:cNvSpPr>
            <a:spLocks noGrp="1"/>
          </p:cNvSpPr>
          <p:nvPr/>
        </p:nvSpPr>
        <p:spPr>
          <a:xfrm>
            <a:off x="5286375" y="4705350"/>
            <a:ext cx="12287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scientific statement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1CF2250F-C24F-400B-8794-078D51D4D05E}"/>
              </a:ext>
            </a:extLst>
          </p:cNvPr>
          <p:cNvSpPr>
            <a:spLocks noGrp="1"/>
          </p:cNvSpPr>
          <p:nvPr/>
        </p:nvSpPr>
        <p:spPr>
          <a:xfrm>
            <a:off x="6591300" y="4629150"/>
            <a:ext cx="1381125" cy="457200"/>
          </a:xfrm>
          <a:prstGeom prst="rect">
            <a:avLst/>
          </a:prstGeom>
          <a:solidFill>
            <a:srgbClr val="FBFAF6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45B5817B-75A9-4C00-AD34-D949A0C8025A}"/>
              </a:ext>
            </a:extLst>
          </p:cNvPr>
          <p:cNvSpPr>
            <a:spLocks noGrp="1"/>
          </p:cNvSpPr>
          <p:nvPr/>
        </p:nvSpPr>
        <p:spPr>
          <a:xfrm>
            <a:off x="6667500" y="4705350"/>
            <a:ext cx="12287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PPG 局限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286422D8-6C9B-461E-A540-C283EBB8A2DD}"/>
              </a:ext>
            </a:extLst>
          </p:cNvPr>
          <p:cNvSpPr>
            <a:spLocks noGrp="1"/>
          </p:cNvSpPr>
          <p:nvPr/>
        </p:nvSpPr>
        <p:spPr>
          <a:xfrm>
            <a:off x="7972425" y="4629150"/>
            <a:ext cx="2952750" cy="457200"/>
          </a:xfrm>
          <a:prstGeom prst="rect">
            <a:avLst/>
          </a:prstGeom>
          <a:solidFill>
            <a:srgbClr val="FBFAF6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B6ADDA37-5F4D-487B-A7D5-65368AAF4A4A}"/>
              </a:ext>
            </a:extLst>
          </p:cNvPr>
          <p:cNvSpPr>
            <a:spLocks noGrp="1"/>
          </p:cNvSpPr>
          <p:nvPr/>
        </p:nvSpPr>
        <p:spPr>
          <a:xfrm>
            <a:off x="8048625" y="4705350"/>
            <a:ext cx="2800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不替代规范血压计的安全边界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9981D507-C728-4E08-9B64-53D4815841B1}"/>
              </a:ext>
            </a:extLst>
          </p:cNvPr>
          <p:cNvSpPr>
            <a:spLocks noGrp="1"/>
          </p:cNvSpPr>
          <p:nvPr/>
        </p:nvSpPr>
        <p:spPr>
          <a:xfrm>
            <a:off x="590550" y="5086350"/>
            <a:ext cx="2476500" cy="457200"/>
          </a:xfrm>
          <a:prstGeom prst="rect">
            <a:avLst/>
          </a:prstGeom>
          <a:solidFill>
            <a:srgbClr val="FFFFFF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E97F757E-7CCF-4C21-904D-B378ED312A4B}"/>
              </a:ext>
            </a:extLst>
          </p:cNvPr>
          <p:cNvSpPr>
            <a:spLocks noGrp="1"/>
          </p:cNvSpPr>
          <p:nvPr/>
        </p:nvSpPr>
        <p:spPr>
          <a:xfrm>
            <a:off x="666750" y="5162550"/>
            <a:ext cx="2324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ISO 81060-2 validation standard metadata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20038FC4-214A-4535-B204-4FDD2B7E269F}"/>
              </a:ext>
            </a:extLst>
          </p:cNvPr>
          <p:cNvSpPr>
            <a:spLocks noGrp="1"/>
          </p:cNvSpPr>
          <p:nvPr/>
        </p:nvSpPr>
        <p:spPr>
          <a:xfrm>
            <a:off x="3067050" y="5086350"/>
            <a:ext cx="2143125" cy="457200"/>
          </a:xfrm>
          <a:prstGeom prst="rect">
            <a:avLst/>
          </a:prstGeom>
          <a:solidFill>
            <a:srgbClr val="FFFFFF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E30F55ED-0000-413E-9BD6-0A6C2C67F47E}"/>
              </a:ext>
            </a:extLst>
          </p:cNvPr>
          <p:cNvSpPr>
            <a:spLocks noGrp="1"/>
          </p:cNvSpPr>
          <p:nvPr/>
        </p:nvSpPr>
        <p:spPr>
          <a:xfrm>
            <a:off x="3143250" y="5162550"/>
            <a:ext cx="19907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ISO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7F399ED5-D3E4-442B-8EF0-282F871BA65C}"/>
              </a:ext>
            </a:extLst>
          </p:cNvPr>
          <p:cNvSpPr>
            <a:spLocks noGrp="1"/>
          </p:cNvSpPr>
          <p:nvPr/>
        </p:nvSpPr>
        <p:spPr>
          <a:xfrm>
            <a:off x="5210175" y="5086350"/>
            <a:ext cx="1381125" cy="457200"/>
          </a:xfrm>
          <a:prstGeom prst="rect">
            <a:avLst/>
          </a:prstGeom>
          <a:solidFill>
            <a:srgbClr val="FFFFFF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AB211576-ADC5-4C69-B272-85DEBAD33F84}"/>
              </a:ext>
            </a:extLst>
          </p:cNvPr>
          <p:cNvSpPr>
            <a:spLocks noGrp="1"/>
          </p:cNvSpPr>
          <p:nvPr/>
        </p:nvSpPr>
        <p:spPr>
          <a:xfrm>
            <a:off x="5286375" y="5162550"/>
            <a:ext cx="12287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metadata only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1963E734-1B37-495E-AF97-CB74E59F696A}"/>
              </a:ext>
            </a:extLst>
          </p:cNvPr>
          <p:cNvSpPr>
            <a:spLocks noGrp="1"/>
          </p:cNvSpPr>
          <p:nvPr/>
        </p:nvSpPr>
        <p:spPr>
          <a:xfrm>
            <a:off x="6591300" y="5086350"/>
            <a:ext cx="1381125" cy="457200"/>
          </a:xfrm>
          <a:prstGeom prst="rect">
            <a:avLst/>
          </a:prstGeom>
          <a:solidFill>
            <a:srgbClr val="FFFFFF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89AE5CFB-4F89-4B8F-BFFD-478BB7B8408E}"/>
              </a:ext>
            </a:extLst>
          </p:cNvPr>
          <p:cNvSpPr>
            <a:spLocks noGrp="1"/>
          </p:cNvSpPr>
          <p:nvPr/>
        </p:nvSpPr>
        <p:spPr>
          <a:xfrm>
            <a:off x="6667500" y="5162550"/>
            <a:ext cx="12287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设备验证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34CE56A4-48DE-406E-A306-ADB4F9CAE2CD}"/>
              </a:ext>
            </a:extLst>
          </p:cNvPr>
          <p:cNvSpPr>
            <a:spLocks noGrp="1"/>
          </p:cNvSpPr>
          <p:nvPr/>
        </p:nvSpPr>
        <p:spPr>
          <a:xfrm>
            <a:off x="7972425" y="5086350"/>
            <a:ext cx="2952750" cy="457200"/>
          </a:xfrm>
          <a:prstGeom prst="rect">
            <a:avLst/>
          </a:prstGeom>
          <a:solidFill>
            <a:srgbClr val="FFFFFF"/>
          </a:solidFill>
          <a:ln w="6668">
            <a:solidFill>
              <a:srgbClr val="D8D2C7"/>
            </a:solidFill>
            <a:prstDash val="solid"/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7BB08E4F-474F-41D9-B591-D2CFFE797605}"/>
              </a:ext>
            </a:extLst>
          </p:cNvPr>
          <p:cNvSpPr>
            <a:spLocks noGrp="1"/>
          </p:cNvSpPr>
          <p:nvPr/>
        </p:nvSpPr>
        <p:spPr>
          <a:xfrm>
            <a:off x="8048625" y="5162550"/>
            <a:ext cx="2800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只保留标准元数据，不下载付费全文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044629A5-1A87-436F-BD32-9FBF5A673634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238250" cy="266700"/>
          </a:xfrm>
          <a:prstGeom prst="rect">
            <a:avLst/>
          </a:prstGeom>
          <a:solidFill>
            <a:srgbClr val="EAF1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E8DF0653-EF3A-4859-9DD0-CCF8A3B11795}"/>
              </a:ext>
            </a:extLst>
          </p:cNvPr>
          <p:cNvSpPr>
            <a:spLocks noGrp="1"/>
          </p:cNvSpPr>
          <p:nvPr/>
        </p:nvSpPr>
        <p:spPr>
          <a:xfrm>
            <a:off x="762000" y="5800725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完整 CSV 可展示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893CFF92-6C65-4879-9B82-5909FBB643FF}"/>
              </a:ext>
            </a:extLst>
          </p:cNvPr>
          <p:cNvSpPr>
            <a:spLocks noGrp="1"/>
          </p:cNvSpPr>
          <p:nvPr/>
        </p:nvSpPr>
        <p:spPr>
          <a:xfrm>
            <a:off x="2076450" y="5791200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outputs/group_meeting_2026_05_28/01_current_document_inventory.csv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1B68AC1F-C143-4C90-B3F5-CE741482E122}"/>
              </a:ext>
            </a:extLst>
          </p:cNvPr>
          <p:cNvSpPr>
            <a:spLocks noGrp="1"/>
          </p:cNvSpPr>
          <p:nvPr/>
        </p:nvSpPr>
        <p:spPr>
          <a:xfrm>
            <a:off x="666750" y="6096000"/>
            <a:ext cx="933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讲解重点：指南 / 官方教育优先用于用户报告；研究论文更多用于 PPG 局限、测量质量和研发背景。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1D803ACE-B6C4-4FF1-ABD1-C1D801E01890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A6F65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7A6F65"/>
                </a:solidFill>
                <a:latin typeface="PingFang SC"/>
                <a:ea typeface="PingFang SC"/>
                <a:cs typeface="PingFang SC"/>
              </a:rPr>
              <a:t>source: included_sources.json + current_document_inventory.csv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C1D3254F-A2E0-4A66-9843-C73456C891E0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06518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54A80D18-5E4A-4D66-AC30-01CC9B50BF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ADFE1F-A308-4E7D-82B5-DECD74CF3E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D83A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310017-67D2-4E5E-B247-34E64E9BA487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CHINA AUTHORITY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A43D9E-CE87-4E8D-B220-586289238873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287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D243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中国官方权威来源已经被放到更高优先级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792E8AB-246A-4621-8A27-155B51BCCF4F}"/>
              </a:ext>
            </a:extLst>
          </p:cNvPr>
          <p:cNvSpPr>
            <a:spLocks noGrp="1"/>
          </p:cNvSpPr>
          <p:nvPr/>
        </p:nvSpPr>
        <p:spPr>
          <a:xfrm>
            <a:off x="628650" y="148590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面向中国用户的报告，先落到中国大陆常见健康管理路径，再引用国际材料补充技术边界。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14267DF-C9FB-4E9E-BD90-62C6D2D6817D}"/>
              </a:ext>
            </a:extLst>
          </p:cNvPr>
          <p:cNvSpPr>
            <a:spLocks noGrp="1"/>
          </p:cNvSpPr>
          <p:nvPr/>
        </p:nvSpPr>
        <p:spPr>
          <a:xfrm>
            <a:off x="666750" y="1885950"/>
            <a:ext cx="2238375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3A34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A9D5155-0149-48F3-8BB6-5789C2577B79}"/>
              </a:ext>
            </a:extLst>
          </p:cNvPr>
          <p:cNvSpPr>
            <a:spLocks noGrp="1"/>
          </p:cNvSpPr>
          <p:nvPr/>
        </p:nvSpPr>
        <p:spPr>
          <a:xfrm>
            <a:off x="838200" y="2019300"/>
            <a:ext cx="189547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dirty="0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373D68-B268-4776-ADBC-0A5AE92C9030}"/>
              </a:ext>
            </a:extLst>
          </p:cNvPr>
          <p:cNvSpPr>
            <a:spLocks noGrp="1"/>
          </p:cNvSpPr>
          <p:nvPr/>
        </p:nvSpPr>
        <p:spPr>
          <a:xfrm>
            <a:off x="838200" y="2495550"/>
            <a:ext cx="18954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新增官方来源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66FC6A-4C88-4851-A335-4748CA31EE7C}"/>
              </a:ext>
            </a:extLst>
          </p:cNvPr>
          <p:cNvSpPr>
            <a:spLocks noGrp="1"/>
          </p:cNvSpPr>
          <p:nvPr/>
        </p:nvSpPr>
        <p:spPr>
          <a:xfrm>
            <a:off x="838200" y="2838450"/>
            <a:ext cx="18954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纳入 formal source 清单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7D43BB3-AC67-45DD-96D4-F9F0A7B694A4}"/>
              </a:ext>
            </a:extLst>
          </p:cNvPr>
          <p:cNvSpPr>
            <a:spLocks noGrp="1"/>
          </p:cNvSpPr>
          <p:nvPr/>
        </p:nvSpPr>
        <p:spPr>
          <a:xfrm>
            <a:off x="3143250" y="1885950"/>
            <a:ext cx="2238375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C64526-BE78-42D9-8274-CF475B694263}"/>
              </a:ext>
            </a:extLst>
          </p:cNvPr>
          <p:cNvSpPr>
            <a:spLocks noGrp="1"/>
          </p:cNvSpPr>
          <p:nvPr/>
        </p:nvSpPr>
        <p:spPr>
          <a:xfrm>
            <a:off x="3314700" y="2019300"/>
            <a:ext cx="189547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3000" b="1" dirty="0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9</a:t>
            </a:r>
            <a:endParaRPr sz="3000" b="1" dirty="0">
              <a:solidFill>
                <a:srgbClr val="0E7C7B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0124DE0-756A-4F8A-91E5-5A43B9AEEB05}"/>
              </a:ext>
            </a:extLst>
          </p:cNvPr>
          <p:cNvSpPr>
            <a:spLocks noGrp="1"/>
          </p:cNvSpPr>
          <p:nvPr/>
        </p:nvSpPr>
        <p:spPr>
          <a:xfrm>
            <a:off x="3314700" y="2495550"/>
            <a:ext cx="18954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新增公开 PDF 下载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121577C-1067-43A3-8F97-D8C2B0CF2FAE}"/>
              </a:ext>
            </a:extLst>
          </p:cNvPr>
          <p:cNvSpPr>
            <a:spLocks noGrp="1"/>
          </p:cNvSpPr>
          <p:nvPr/>
        </p:nvSpPr>
        <p:spPr>
          <a:xfrm>
            <a:off x="3314700" y="2838450"/>
            <a:ext cx="18954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可进入本地全文细切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B2EA262-F956-4B45-A4A6-5A2BE425B93F}"/>
              </a:ext>
            </a:extLst>
          </p:cNvPr>
          <p:cNvSpPr>
            <a:spLocks noGrp="1"/>
          </p:cNvSpPr>
          <p:nvPr/>
        </p:nvSpPr>
        <p:spPr>
          <a:xfrm>
            <a:off x="5619750" y="1885950"/>
            <a:ext cx="2238375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B7791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8F7D41E-D6DD-475C-A94D-67483902630E}"/>
              </a:ext>
            </a:extLst>
          </p:cNvPr>
          <p:cNvSpPr>
            <a:spLocks noGrp="1"/>
          </p:cNvSpPr>
          <p:nvPr/>
        </p:nvSpPr>
        <p:spPr>
          <a:xfrm>
            <a:off x="5791200" y="2019300"/>
            <a:ext cx="189547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B7791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126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1C3757-E4B7-48EE-8B9B-EA8D4A5BCD44}"/>
              </a:ext>
            </a:extLst>
          </p:cNvPr>
          <p:cNvSpPr>
            <a:spLocks noGrp="1"/>
          </p:cNvSpPr>
          <p:nvPr/>
        </p:nvSpPr>
        <p:spPr>
          <a:xfrm>
            <a:off x="5791200" y="2495550"/>
            <a:ext cx="18954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当前</a:t>
            </a:r>
            <a:r>
              <a:rPr sz="1200" b="1" dirty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 formal sources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058D3EF-5C15-4740-8E87-66EB2FF07070}"/>
              </a:ext>
            </a:extLst>
          </p:cNvPr>
          <p:cNvSpPr>
            <a:spLocks noGrp="1"/>
          </p:cNvSpPr>
          <p:nvPr/>
        </p:nvSpPr>
        <p:spPr>
          <a:xfrm>
            <a:off x="5791200" y="2838450"/>
            <a:ext cx="18954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扩充后总入库来源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8A40AE3-AE09-4A8E-8A6A-BCC55F2DEBFA}"/>
              </a:ext>
            </a:extLst>
          </p:cNvPr>
          <p:cNvSpPr>
            <a:spLocks noGrp="1"/>
          </p:cNvSpPr>
          <p:nvPr/>
        </p:nvSpPr>
        <p:spPr>
          <a:xfrm>
            <a:off x="8096250" y="1885950"/>
            <a:ext cx="2238375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B70E1F1-B191-47C1-BC49-525DDE24F11E}"/>
              </a:ext>
            </a:extLst>
          </p:cNvPr>
          <p:cNvSpPr>
            <a:spLocks noGrp="1"/>
          </p:cNvSpPr>
          <p:nvPr/>
        </p:nvSpPr>
        <p:spPr>
          <a:xfrm>
            <a:off x="8267700" y="2019300"/>
            <a:ext cx="189547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dirty="0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584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6C4B2BA-F379-4711-9960-9017F1B51DDD}"/>
              </a:ext>
            </a:extLst>
          </p:cNvPr>
          <p:cNvSpPr>
            <a:spLocks noGrp="1"/>
          </p:cNvSpPr>
          <p:nvPr/>
        </p:nvSpPr>
        <p:spPr>
          <a:xfrm>
            <a:off x="8267700" y="2495550"/>
            <a:ext cx="18954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正式 KB chunks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24504A8-DE29-4016-A6F8-1A9D9A525C1E}"/>
              </a:ext>
            </a:extLst>
          </p:cNvPr>
          <p:cNvSpPr>
            <a:spLocks noGrp="1"/>
          </p:cNvSpPr>
          <p:nvPr/>
        </p:nvSpPr>
        <p:spPr>
          <a:xfrm>
            <a:off x="8267700" y="2838450"/>
            <a:ext cx="18954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质量门控后可检索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592DF79-13DF-4EC8-B082-F743F8E6B031}"/>
              </a:ext>
            </a:extLst>
          </p:cNvPr>
          <p:cNvSpPr>
            <a:spLocks noGrp="1"/>
          </p:cNvSpPr>
          <p:nvPr/>
        </p:nvSpPr>
        <p:spPr>
          <a:xfrm>
            <a:off x="685800" y="3686175"/>
            <a:ext cx="247650" cy="28575"/>
          </a:xfrm>
          <a:prstGeom prst="rect">
            <a:avLst/>
          </a:prstGeom>
          <a:solidFill>
            <a:srgbClr val="D83A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F7ED8DD-467A-428E-AF7D-F8152AE13BC1}"/>
              </a:ext>
            </a:extLst>
          </p:cNvPr>
          <p:cNvSpPr>
            <a:spLocks noGrp="1"/>
          </p:cNvSpPr>
          <p:nvPr/>
        </p:nvSpPr>
        <p:spPr>
          <a:xfrm>
            <a:off x="1009650" y="3600450"/>
            <a:ext cx="34290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dirty="0" err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中国</a:t>
            </a:r>
            <a:r>
              <a:rPr lang="zh-CN" altLang="en-US" sz="1050" b="1" dirty="0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本土资料</a:t>
            </a:r>
            <a:r>
              <a:rPr sz="1050" b="1" dirty="0" err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来源示例</a:t>
            </a:r>
            <a:endParaRPr sz="1050" b="1" dirty="0">
              <a:solidFill>
                <a:srgbClr val="D83A3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F29B853-0309-4FA5-A004-E6A0396397A5}"/>
              </a:ext>
            </a:extLst>
          </p:cNvPr>
          <p:cNvSpPr>
            <a:spLocks noGrp="1"/>
          </p:cNvSpPr>
          <p:nvPr/>
        </p:nvSpPr>
        <p:spPr>
          <a:xfrm>
            <a:off x="819150" y="4076700"/>
            <a:ext cx="66675" cy="66675"/>
          </a:xfrm>
          <a:prstGeom prst="rect">
            <a:avLst/>
          </a:prstGeom>
          <a:solidFill>
            <a:srgbClr val="D83A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AC7EC3E-9165-4F8A-941C-B8A4BD9446DE}"/>
              </a:ext>
            </a:extLst>
          </p:cNvPr>
          <p:cNvSpPr>
            <a:spLocks noGrp="1"/>
          </p:cNvSpPr>
          <p:nvPr/>
        </p:nvSpPr>
        <p:spPr>
          <a:xfrm>
            <a:off x="990600" y="40005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国家卫健委：WS</a:t>
            </a:r>
            <a:r>
              <a:rPr sz="1350" b="0" dirty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/T 872-2025 </a:t>
            </a:r>
            <a:r>
              <a:rPr sz="1350" b="0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基层高血压防治管理标准</a:t>
            </a:r>
            <a:endParaRPr sz="1350" b="0" dirty="0">
              <a:solidFill>
                <a:srgbClr val="35405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2AAC38E-2B61-4C8B-9615-602CE70D602A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6675" cy="66675"/>
          </a:xfrm>
          <a:prstGeom prst="rect">
            <a:avLst/>
          </a:prstGeom>
          <a:solidFill>
            <a:srgbClr val="D83A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1CED89D-AAFE-4C4C-9708-BE6055D2252B}"/>
              </a:ext>
            </a:extLst>
          </p:cNvPr>
          <p:cNvSpPr>
            <a:spLocks noGrp="1"/>
          </p:cNvSpPr>
          <p:nvPr/>
        </p:nvSpPr>
        <p:spPr>
          <a:xfrm>
            <a:off x="990600" y="43434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dirty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国家基层高血压防治管理指南（2020版）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C7D43D2-CC85-40E3-84E4-3563F9423DC2}"/>
              </a:ext>
            </a:extLst>
          </p:cNvPr>
          <p:cNvSpPr>
            <a:spLocks noGrp="1"/>
          </p:cNvSpPr>
          <p:nvPr/>
        </p:nvSpPr>
        <p:spPr>
          <a:xfrm>
            <a:off x="819150" y="4762500"/>
            <a:ext cx="66675" cy="66675"/>
          </a:xfrm>
          <a:prstGeom prst="rect">
            <a:avLst/>
          </a:prstGeom>
          <a:solidFill>
            <a:srgbClr val="D83A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10A020F-3009-4E17-96D6-45FD10B0E9D3}"/>
              </a:ext>
            </a:extLst>
          </p:cNvPr>
          <p:cNvSpPr>
            <a:spLocks noGrp="1"/>
          </p:cNvSpPr>
          <p:nvPr/>
        </p:nvSpPr>
        <p:spPr>
          <a:xfrm>
            <a:off x="990600" y="46863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国家基本公共卫生服务规范：高血压患者健康管理</a:t>
            </a:r>
            <a:endParaRPr sz="1350" b="0" dirty="0">
              <a:solidFill>
                <a:srgbClr val="35405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123B208-3E7E-483E-9AF0-B6974E9831E6}"/>
              </a:ext>
            </a:extLst>
          </p:cNvPr>
          <p:cNvSpPr>
            <a:spLocks noGrp="1"/>
          </p:cNvSpPr>
          <p:nvPr/>
        </p:nvSpPr>
        <p:spPr>
          <a:xfrm>
            <a:off x="819150" y="5105400"/>
            <a:ext cx="66675" cy="66675"/>
          </a:xfrm>
          <a:prstGeom prst="rect">
            <a:avLst/>
          </a:prstGeom>
          <a:solidFill>
            <a:srgbClr val="D83A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EFEEC07-0F2A-4D28-9518-B7D1A3F4E100}"/>
              </a:ext>
            </a:extLst>
          </p:cNvPr>
          <p:cNvSpPr>
            <a:spLocks noGrp="1"/>
          </p:cNvSpPr>
          <p:nvPr/>
        </p:nvSpPr>
        <p:spPr>
          <a:xfrm>
            <a:off x="990600" y="50292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dirty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健康中国行动（2019-2030年）与心脑血管疾病防治行动（2023-2030年）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88BFA6D-7C7A-4FA7-93E0-3D800A3EE971}"/>
              </a:ext>
            </a:extLst>
          </p:cNvPr>
          <p:cNvSpPr>
            <a:spLocks noGrp="1"/>
          </p:cNvSpPr>
          <p:nvPr/>
        </p:nvSpPr>
        <p:spPr>
          <a:xfrm>
            <a:off x="819150" y="5448300"/>
            <a:ext cx="66675" cy="66675"/>
          </a:xfrm>
          <a:prstGeom prst="rect">
            <a:avLst/>
          </a:prstGeom>
          <a:solidFill>
            <a:srgbClr val="D83A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A33DC5A-28D5-401C-946E-CCD17DC98173}"/>
              </a:ext>
            </a:extLst>
          </p:cNvPr>
          <p:cNvSpPr>
            <a:spLocks noGrp="1"/>
          </p:cNvSpPr>
          <p:nvPr/>
        </p:nvSpPr>
        <p:spPr>
          <a:xfrm>
            <a:off x="990600" y="5372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dirty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成人高血压食养指南（2023年版）与营养运动指导原则（2024年版）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6CC4F32-7BA2-4107-9F97-F211AE034CAB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A6F65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7A6F65"/>
                </a:solidFill>
                <a:latin typeface="PingFang SC"/>
                <a:ea typeface="PingFang SC"/>
                <a:cs typeface="PingFang SC"/>
              </a:rPr>
              <a:t>source: 05_cn_authoritative_source_expansion.md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517CBAF-52A1-47B2-BC27-E9F6F0AB3362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55640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>
            <a:extLst>
              <a:ext uri="{FF2B5EF4-FFF2-40B4-BE49-F238E27FC236}">
                <a16:creationId xmlns:a16="http://schemas.microsoft.com/office/drawing/2014/main" id="{84D93369-69D8-4B02-9C3A-9AAC5748E62A}"/>
              </a:ext>
            </a:extLst>
          </p:cNvPr>
          <p:cNvSpPr>
            <a:spLocks noGrp="1"/>
          </p:cNvSpPr>
          <p:nvPr/>
        </p:nvSpPr>
        <p:spPr>
          <a:xfrm>
            <a:off x="0" y="33337"/>
            <a:ext cx="12192000" cy="6858000"/>
          </a:xfrm>
          <a:prstGeom prst="rect">
            <a:avLst/>
          </a:prstGeom>
          <a:solidFill>
            <a:srgbClr val="F7F5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884742-8D7C-4D23-A7B7-7531EAC4C5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D83A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636A8D-9516-48D8-8E8F-54C1F2810205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CHUNKING PIPELINE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702D50-79F1-4F7F-95FD-55EA9145D829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287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D243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dirty="0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PDF </a:t>
            </a:r>
            <a:r>
              <a:rPr sz="2850" b="1" dirty="0" err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不是直接扔给模型，而是先变成可追溯的小证据块</a:t>
            </a:r>
            <a:endParaRPr sz="2850" b="1" dirty="0">
              <a:solidFill>
                <a:srgbClr val="1D2433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D57C6D-44A4-458C-929D-C4936C5EB998}"/>
              </a:ext>
            </a:extLst>
          </p:cNvPr>
          <p:cNvSpPr>
            <a:spLocks noGrp="1"/>
          </p:cNvSpPr>
          <p:nvPr/>
        </p:nvSpPr>
        <p:spPr>
          <a:xfrm>
            <a:off x="628650" y="148590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切分时保留页码、来源、主题、证据等级和 allowed_uses，便于报告引用和审计。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B5E3E0-06AD-41C4-BF29-EAC26DA5921D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1571625" cy="1524000"/>
          </a:xfrm>
          <a:prstGeom prst="rect">
            <a:avLst/>
          </a:prstGeom>
          <a:solidFill>
            <a:srgbClr val="FDEDEC"/>
          </a:solidFill>
          <a:ln w="14288">
            <a:solidFill>
              <a:srgbClr val="D83A34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8519BA-29EC-4D57-A432-7B82FCC0EEF1}"/>
              </a:ext>
            </a:extLst>
          </p:cNvPr>
          <p:cNvSpPr>
            <a:spLocks noGrp="1"/>
          </p:cNvSpPr>
          <p:nvPr/>
        </p:nvSpPr>
        <p:spPr>
          <a:xfrm>
            <a:off x="762000" y="2209800"/>
            <a:ext cx="12668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dirty="0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1 PDF </a:t>
            </a:r>
            <a:r>
              <a:rPr sz="1350" b="1" dirty="0" err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来源</a:t>
            </a:r>
            <a:endParaRPr sz="1350" b="1" dirty="0">
              <a:solidFill>
                <a:srgbClr val="D83A3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05D30A-CF1A-4E4F-9641-93800BBA4D0D}"/>
              </a:ext>
            </a:extLst>
          </p:cNvPr>
          <p:cNvSpPr>
            <a:spLocks noGrp="1"/>
          </p:cNvSpPr>
          <p:nvPr/>
        </p:nvSpPr>
        <p:spPr>
          <a:xfrm>
            <a:off x="762000" y="2552700"/>
            <a:ext cx="1266825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公开 PDF 或经授权全文；访问受限材料不进入全文 chunk。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75D1183-83D7-4345-A242-D7CC10431403}"/>
              </a:ext>
            </a:extLst>
          </p:cNvPr>
          <p:cNvSpPr>
            <a:spLocks noGrp="1"/>
          </p:cNvSpPr>
          <p:nvPr/>
        </p:nvSpPr>
        <p:spPr>
          <a:xfrm>
            <a:off x="2219325" y="2819400"/>
            <a:ext cx="400050" cy="2857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D0DFE37-25B7-4BED-B900-325B993470BD}"/>
              </a:ext>
            </a:extLst>
          </p:cNvPr>
          <p:cNvSpPr>
            <a:spLocks noGrp="1"/>
          </p:cNvSpPr>
          <p:nvPr/>
        </p:nvSpPr>
        <p:spPr>
          <a:xfrm>
            <a:off x="2543175" y="2705100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D8D2C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8D2C7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A88D28-6E28-49CB-93B3-07779A2DDD7F}"/>
              </a:ext>
            </a:extLst>
          </p:cNvPr>
          <p:cNvSpPr>
            <a:spLocks noGrp="1"/>
          </p:cNvSpPr>
          <p:nvPr/>
        </p:nvSpPr>
        <p:spPr>
          <a:xfrm>
            <a:off x="2705100" y="2076450"/>
            <a:ext cx="1571625" cy="1524000"/>
          </a:xfrm>
          <a:prstGeom prst="rect">
            <a:avLst/>
          </a:prstGeom>
          <a:solidFill>
            <a:srgbClr val="E6F3F2"/>
          </a:solidFill>
          <a:ln w="14288">
            <a:solidFill>
              <a:srgbClr val="0E7C7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F3B37BD-6965-4FDB-9B5B-0223B1BFB8FA}"/>
              </a:ext>
            </a:extLst>
          </p:cNvPr>
          <p:cNvSpPr>
            <a:spLocks noGrp="1"/>
          </p:cNvSpPr>
          <p:nvPr/>
        </p:nvSpPr>
        <p:spPr>
          <a:xfrm>
            <a:off x="2857500" y="2209800"/>
            <a:ext cx="12668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2 按页抽取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E3DD4E4-A654-4D86-B088-FCF2B4A00E79}"/>
              </a:ext>
            </a:extLst>
          </p:cNvPr>
          <p:cNvSpPr>
            <a:spLocks noGrp="1"/>
          </p:cNvSpPr>
          <p:nvPr/>
        </p:nvSpPr>
        <p:spPr>
          <a:xfrm>
            <a:off x="2857500" y="2552700"/>
            <a:ext cx="1266825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pypdf 读取页文本；记录 page_start / page_end。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3C16AA7-DA7C-465D-B7EA-8617FE74F9BC}"/>
              </a:ext>
            </a:extLst>
          </p:cNvPr>
          <p:cNvSpPr>
            <a:spLocks noGrp="1"/>
          </p:cNvSpPr>
          <p:nvPr/>
        </p:nvSpPr>
        <p:spPr>
          <a:xfrm>
            <a:off x="4314825" y="2819400"/>
            <a:ext cx="400050" cy="2857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6714EBF-E4D4-4EBB-90E4-FA952D2F06F1}"/>
              </a:ext>
            </a:extLst>
          </p:cNvPr>
          <p:cNvSpPr>
            <a:spLocks noGrp="1"/>
          </p:cNvSpPr>
          <p:nvPr/>
        </p:nvSpPr>
        <p:spPr>
          <a:xfrm>
            <a:off x="4638675" y="2705100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D8D2C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8D2C7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F20BCE7-F5FC-4315-8B23-192CF74921F4}"/>
              </a:ext>
            </a:extLst>
          </p:cNvPr>
          <p:cNvSpPr>
            <a:spLocks noGrp="1"/>
          </p:cNvSpPr>
          <p:nvPr/>
        </p:nvSpPr>
        <p:spPr>
          <a:xfrm>
            <a:off x="4800600" y="2076450"/>
            <a:ext cx="1571625" cy="1524000"/>
          </a:xfrm>
          <a:prstGeom prst="rect">
            <a:avLst/>
          </a:prstGeom>
          <a:solidFill>
            <a:srgbClr val="EAF1FF"/>
          </a:solidFill>
          <a:ln w="14288">
            <a:solidFill>
              <a:srgbClr val="2563EB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FC03605-5788-473A-8456-1070FA47C8B6}"/>
              </a:ext>
            </a:extLst>
          </p:cNvPr>
          <p:cNvSpPr>
            <a:spLocks noGrp="1"/>
          </p:cNvSpPr>
          <p:nvPr/>
        </p:nvSpPr>
        <p:spPr>
          <a:xfrm>
            <a:off x="4953000" y="2209800"/>
            <a:ext cx="12668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3 清洗文本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FB89DD2-1DAF-4C6B-A9CC-A75118016750}"/>
              </a:ext>
            </a:extLst>
          </p:cNvPr>
          <p:cNvSpPr>
            <a:spLocks noGrp="1"/>
          </p:cNvSpPr>
          <p:nvPr/>
        </p:nvSpPr>
        <p:spPr>
          <a:xfrm>
            <a:off x="4953000" y="2552700"/>
            <a:ext cx="1266825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去掉重复空白、页眉页脚噪声和不可用文本。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3B21E52-3A54-4039-9EE5-8D7105C58A7D}"/>
              </a:ext>
            </a:extLst>
          </p:cNvPr>
          <p:cNvSpPr>
            <a:spLocks noGrp="1"/>
          </p:cNvSpPr>
          <p:nvPr/>
        </p:nvSpPr>
        <p:spPr>
          <a:xfrm>
            <a:off x="6410325" y="2819400"/>
            <a:ext cx="400050" cy="2857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FF25792-3753-4376-A054-D6DC16EE82A7}"/>
              </a:ext>
            </a:extLst>
          </p:cNvPr>
          <p:cNvSpPr>
            <a:spLocks noGrp="1"/>
          </p:cNvSpPr>
          <p:nvPr/>
        </p:nvSpPr>
        <p:spPr>
          <a:xfrm>
            <a:off x="6734175" y="2705100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D8D2C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8D2C7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35A88F7-A750-4D5F-80EF-D2C213F26439}"/>
              </a:ext>
            </a:extLst>
          </p:cNvPr>
          <p:cNvSpPr>
            <a:spLocks noGrp="1"/>
          </p:cNvSpPr>
          <p:nvPr/>
        </p:nvSpPr>
        <p:spPr>
          <a:xfrm>
            <a:off x="6896100" y="2076450"/>
            <a:ext cx="1571625" cy="1524000"/>
          </a:xfrm>
          <a:prstGeom prst="rect">
            <a:avLst/>
          </a:prstGeom>
          <a:solidFill>
            <a:srgbClr val="FFF7E6"/>
          </a:solidFill>
          <a:ln w="14288">
            <a:solidFill>
              <a:srgbClr val="B7791F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004F37D-A792-4B91-9B65-8E6605053C71}"/>
              </a:ext>
            </a:extLst>
          </p:cNvPr>
          <p:cNvSpPr>
            <a:spLocks noGrp="1"/>
          </p:cNvSpPr>
          <p:nvPr/>
        </p:nvSpPr>
        <p:spPr>
          <a:xfrm>
            <a:off x="7048500" y="2209800"/>
            <a:ext cx="12668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779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4 重叠切分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CFAEEC6-3E84-428B-BDC2-359A963A8C50}"/>
              </a:ext>
            </a:extLst>
          </p:cNvPr>
          <p:cNvSpPr>
            <a:spLocks noGrp="1"/>
          </p:cNvSpPr>
          <p:nvPr/>
        </p:nvSpPr>
        <p:spPr>
          <a:xfrm>
            <a:off x="7048500" y="2552700"/>
            <a:ext cx="1266825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目标</a:t>
            </a:r>
            <a:r>
              <a:rPr sz="975" b="0" dirty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 850 </a:t>
            </a:r>
            <a:r>
              <a:rPr sz="975" b="0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字符；相邻</a:t>
            </a:r>
            <a:r>
              <a:rPr sz="975" b="0" dirty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 chunk </a:t>
            </a:r>
            <a:r>
              <a:rPr sz="975" b="0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重叠</a:t>
            </a:r>
            <a:r>
              <a:rPr sz="975" b="0" dirty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 140 </a:t>
            </a:r>
            <a:r>
              <a:rPr sz="975" b="0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字符</a:t>
            </a:r>
            <a:r>
              <a:rPr sz="975" b="0" dirty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E10DB5E-A4A2-4F15-A74E-CCF8291C77A7}"/>
              </a:ext>
            </a:extLst>
          </p:cNvPr>
          <p:cNvSpPr>
            <a:spLocks noGrp="1"/>
          </p:cNvSpPr>
          <p:nvPr/>
        </p:nvSpPr>
        <p:spPr>
          <a:xfrm>
            <a:off x="8505825" y="2819400"/>
            <a:ext cx="400050" cy="2857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BA54412-AB15-4200-8D72-B687C44AB4B2}"/>
              </a:ext>
            </a:extLst>
          </p:cNvPr>
          <p:cNvSpPr>
            <a:spLocks noGrp="1"/>
          </p:cNvSpPr>
          <p:nvPr/>
        </p:nvSpPr>
        <p:spPr>
          <a:xfrm>
            <a:off x="8829675" y="2705100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D8D2C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8D2C7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753F414-4C88-43EA-9CBC-DCC9A17CFBCB}"/>
              </a:ext>
            </a:extLst>
          </p:cNvPr>
          <p:cNvSpPr>
            <a:spLocks noGrp="1"/>
          </p:cNvSpPr>
          <p:nvPr/>
        </p:nvSpPr>
        <p:spPr>
          <a:xfrm>
            <a:off x="8991600" y="2076450"/>
            <a:ext cx="1809750" cy="1524000"/>
          </a:xfrm>
          <a:prstGeom prst="rect">
            <a:avLst/>
          </a:prstGeom>
          <a:solidFill>
            <a:srgbClr val="EAF7F0"/>
          </a:solidFill>
          <a:ln w="14288">
            <a:solidFill>
              <a:srgbClr val="1F8A5B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CF57981-56BA-4C01-9EE2-48E89C7EF48D}"/>
              </a:ext>
            </a:extLst>
          </p:cNvPr>
          <p:cNvSpPr>
            <a:spLocks noGrp="1"/>
          </p:cNvSpPr>
          <p:nvPr/>
        </p:nvSpPr>
        <p:spPr>
          <a:xfrm>
            <a:off x="9144000" y="2209800"/>
            <a:ext cx="1504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8A5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F8A5B"/>
                </a:solidFill>
                <a:latin typeface="PingFang SC"/>
                <a:ea typeface="PingFang SC"/>
                <a:cs typeface="PingFang SC"/>
              </a:rPr>
              <a:t>5 写入索引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310616A-AE13-46D8-B49B-124A0F3D2A28}"/>
              </a:ext>
            </a:extLst>
          </p:cNvPr>
          <p:cNvSpPr>
            <a:spLocks noGrp="1"/>
          </p:cNvSpPr>
          <p:nvPr/>
        </p:nvSpPr>
        <p:spPr>
          <a:xfrm>
            <a:off x="9144000" y="2560320"/>
            <a:ext cx="15049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保存 chunk JSONL 与 384 维 local hashing vectors。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1E482E0-9CC1-45E4-92A6-1C6EBA0F7419}"/>
              </a:ext>
            </a:extLst>
          </p:cNvPr>
          <p:cNvSpPr>
            <a:spLocks noGrp="1"/>
          </p:cNvSpPr>
          <p:nvPr/>
        </p:nvSpPr>
        <p:spPr>
          <a:xfrm>
            <a:off x="762000" y="4257675"/>
            <a:ext cx="247650" cy="28575"/>
          </a:xfrm>
          <a:prstGeom prst="rect">
            <a:avLst/>
          </a:prstGeom>
          <a:solidFill>
            <a:srgbClr val="D83A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BD7ABE2-DBAC-4381-BB4E-A7D5B36A7357}"/>
              </a:ext>
            </a:extLst>
          </p:cNvPr>
          <p:cNvSpPr>
            <a:spLocks noGrp="1"/>
          </p:cNvSpPr>
          <p:nvPr/>
        </p:nvSpPr>
        <p:spPr>
          <a:xfrm>
            <a:off x="1085850" y="4171950"/>
            <a:ext cx="34290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每个 chunk 保留的元数据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2E22C75-B41F-4E01-9B47-8F29F274FBF5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3000375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3A34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AFEE12B-CBC2-41AC-95F9-CF877A076C7E}"/>
              </a:ext>
            </a:extLst>
          </p:cNvPr>
          <p:cNvSpPr>
            <a:spLocks noGrp="1"/>
          </p:cNvSpPr>
          <p:nvPr/>
        </p:nvSpPr>
        <p:spPr>
          <a:xfrm>
            <a:off x="933450" y="46291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83A34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D83A34"/>
                </a:solidFill>
                <a:latin typeface="Aptos Mono"/>
                <a:ea typeface="Aptos Mono"/>
                <a:cs typeface="Aptos Mono"/>
              </a:rPr>
              <a:t>source_id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A29622E-42F5-4018-8BC2-8516B11AD9CF}"/>
              </a:ext>
            </a:extLst>
          </p:cNvPr>
          <p:cNvSpPr>
            <a:spLocks noGrp="1"/>
          </p:cNvSpPr>
          <p:nvPr/>
        </p:nvSpPr>
        <p:spPr>
          <a:xfrm>
            <a:off x="933450" y="48577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来源唯一 ID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86F05A8-ED21-4503-986D-A96661F7D510}"/>
              </a:ext>
            </a:extLst>
          </p:cNvPr>
          <p:cNvSpPr>
            <a:spLocks noGrp="1"/>
          </p:cNvSpPr>
          <p:nvPr/>
        </p:nvSpPr>
        <p:spPr>
          <a:xfrm>
            <a:off x="4210050" y="4552950"/>
            <a:ext cx="3000375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548BF19-EE30-4E55-883B-158FFE73DB58}"/>
              </a:ext>
            </a:extLst>
          </p:cNvPr>
          <p:cNvSpPr>
            <a:spLocks noGrp="1"/>
          </p:cNvSpPr>
          <p:nvPr/>
        </p:nvSpPr>
        <p:spPr>
          <a:xfrm>
            <a:off x="4362450" y="46291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E7C7B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0E7C7B"/>
                </a:solidFill>
                <a:latin typeface="Aptos Mono"/>
                <a:ea typeface="Aptos Mono"/>
                <a:cs typeface="Aptos Mono"/>
              </a:rPr>
              <a:t>title / org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6568BBA-297E-428E-9BDE-DBE08D4EF509}"/>
              </a:ext>
            </a:extLst>
          </p:cNvPr>
          <p:cNvSpPr>
            <a:spLocks noGrp="1"/>
          </p:cNvSpPr>
          <p:nvPr/>
        </p:nvSpPr>
        <p:spPr>
          <a:xfrm>
            <a:off x="4362450" y="48577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标题与发布机构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C4EF033-54B4-4894-895A-A392A90FD3A9}"/>
              </a:ext>
            </a:extLst>
          </p:cNvPr>
          <p:cNvSpPr>
            <a:spLocks noGrp="1"/>
          </p:cNvSpPr>
          <p:nvPr/>
        </p:nvSpPr>
        <p:spPr>
          <a:xfrm>
            <a:off x="7639050" y="4552950"/>
            <a:ext cx="3000375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3A34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2A09EF3-BEA9-437A-8550-A933BDFAB48A}"/>
              </a:ext>
            </a:extLst>
          </p:cNvPr>
          <p:cNvSpPr>
            <a:spLocks noGrp="1"/>
          </p:cNvSpPr>
          <p:nvPr/>
        </p:nvSpPr>
        <p:spPr>
          <a:xfrm>
            <a:off x="7791450" y="46291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83A34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D83A34"/>
                </a:solidFill>
                <a:latin typeface="Aptos Mono"/>
                <a:ea typeface="Aptos Mono"/>
                <a:cs typeface="Aptos Mono"/>
              </a:rPr>
              <a:t>topic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7C02006-3450-4A49-95BE-AA231839FA24}"/>
              </a:ext>
            </a:extLst>
          </p:cNvPr>
          <p:cNvSpPr>
            <a:spLocks noGrp="1"/>
          </p:cNvSpPr>
          <p:nvPr/>
        </p:nvSpPr>
        <p:spPr>
          <a:xfrm>
            <a:off x="7791450" y="48577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高血压报告中的用途主题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AD549B4-1140-46DD-A952-EBC4CF412DC5}"/>
              </a:ext>
            </a:extLst>
          </p:cNvPr>
          <p:cNvSpPr>
            <a:spLocks noGrp="1"/>
          </p:cNvSpPr>
          <p:nvPr/>
        </p:nvSpPr>
        <p:spPr>
          <a:xfrm>
            <a:off x="781050" y="5276850"/>
            <a:ext cx="3000375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AC50398-DC38-4EBF-B5F5-6906C0ECF54E}"/>
              </a:ext>
            </a:extLst>
          </p:cNvPr>
          <p:cNvSpPr>
            <a:spLocks noGrp="1"/>
          </p:cNvSpPr>
          <p:nvPr/>
        </p:nvSpPr>
        <p:spPr>
          <a:xfrm>
            <a:off x="933449" y="5343525"/>
            <a:ext cx="1438275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E7C7B"/>
                </a:solidFill>
                <a:latin typeface="Aptos Mono"/>
                <a:ea typeface="Aptos Mono"/>
                <a:cs typeface="Aptos Mono"/>
              </a:defRPr>
            </a:pPr>
            <a:r>
              <a:rPr sz="1200" b="1" dirty="0" err="1">
                <a:solidFill>
                  <a:srgbClr val="0E7C7B"/>
                </a:solidFill>
                <a:latin typeface="Aptos Mono"/>
                <a:ea typeface="Aptos Mono"/>
                <a:cs typeface="Aptos Mono"/>
              </a:rPr>
              <a:t>evidence_class</a:t>
            </a:r>
            <a:endParaRPr sz="1200" b="1" dirty="0">
              <a:solidFill>
                <a:srgbClr val="0E7C7B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B553FA7-10C7-4B61-8A32-27502B2561A1}"/>
              </a:ext>
            </a:extLst>
          </p:cNvPr>
          <p:cNvSpPr>
            <a:spLocks noGrp="1"/>
          </p:cNvSpPr>
          <p:nvPr/>
        </p:nvSpPr>
        <p:spPr>
          <a:xfrm>
            <a:off x="933450" y="55816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指南、官方教育、科学声明等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5C4D990-2D0B-470F-95B6-94623C548F6D}"/>
              </a:ext>
            </a:extLst>
          </p:cNvPr>
          <p:cNvSpPr>
            <a:spLocks noGrp="1"/>
          </p:cNvSpPr>
          <p:nvPr/>
        </p:nvSpPr>
        <p:spPr>
          <a:xfrm>
            <a:off x="4210050" y="5276850"/>
            <a:ext cx="3000375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3A34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D77AE60-D9EB-43F2-AE4E-2C88E83801D3}"/>
              </a:ext>
            </a:extLst>
          </p:cNvPr>
          <p:cNvSpPr>
            <a:spLocks noGrp="1"/>
          </p:cNvSpPr>
          <p:nvPr/>
        </p:nvSpPr>
        <p:spPr>
          <a:xfrm>
            <a:off x="4362449" y="5305425"/>
            <a:ext cx="204787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83A34"/>
                </a:solidFill>
                <a:latin typeface="Aptos Mono"/>
                <a:ea typeface="Aptos Mono"/>
                <a:cs typeface="Aptos Mono"/>
              </a:defRPr>
            </a:pPr>
            <a:r>
              <a:rPr sz="1200" b="1" dirty="0" err="1">
                <a:solidFill>
                  <a:srgbClr val="D83A34"/>
                </a:solidFill>
                <a:latin typeface="Aptos Mono"/>
                <a:ea typeface="Aptos Mono"/>
                <a:cs typeface="Aptos Mono"/>
              </a:rPr>
              <a:t>page_start</a:t>
            </a:r>
            <a:r>
              <a:rPr sz="1200" b="1" dirty="0">
                <a:solidFill>
                  <a:srgbClr val="D83A34"/>
                </a:solidFill>
                <a:latin typeface="Aptos Mono"/>
                <a:ea typeface="Aptos Mono"/>
                <a:cs typeface="Aptos Mono"/>
              </a:rPr>
              <a:t> / </a:t>
            </a:r>
            <a:r>
              <a:rPr sz="1200" b="1" dirty="0" err="1">
                <a:solidFill>
                  <a:srgbClr val="D83A34"/>
                </a:solidFill>
                <a:latin typeface="Aptos Mono"/>
                <a:ea typeface="Aptos Mono"/>
                <a:cs typeface="Aptos Mono"/>
              </a:rPr>
              <a:t>page_end</a:t>
            </a:r>
            <a:endParaRPr sz="1200" b="1" dirty="0">
              <a:solidFill>
                <a:srgbClr val="D83A34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9C08EB3-3577-4793-9893-48948D8223C0}"/>
              </a:ext>
            </a:extLst>
          </p:cNvPr>
          <p:cNvSpPr>
            <a:spLocks noGrp="1"/>
          </p:cNvSpPr>
          <p:nvPr/>
        </p:nvSpPr>
        <p:spPr>
          <a:xfrm>
            <a:off x="4362450" y="55816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对应 PDF 页码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DFC78BC-C37D-41C4-BDB1-AB76ECDC73F5}"/>
              </a:ext>
            </a:extLst>
          </p:cNvPr>
          <p:cNvSpPr>
            <a:spLocks noGrp="1"/>
          </p:cNvSpPr>
          <p:nvPr/>
        </p:nvSpPr>
        <p:spPr>
          <a:xfrm>
            <a:off x="7639050" y="5276850"/>
            <a:ext cx="3000375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34F4393-CBE8-486E-B7B7-0074B74128F1}"/>
              </a:ext>
            </a:extLst>
          </p:cNvPr>
          <p:cNvSpPr>
            <a:spLocks noGrp="1"/>
          </p:cNvSpPr>
          <p:nvPr/>
        </p:nvSpPr>
        <p:spPr>
          <a:xfrm>
            <a:off x="7791450" y="5343525"/>
            <a:ext cx="236220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E7C7B"/>
                </a:solidFill>
                <a:latin typeface="Aptos Mono"/>
                <a:ea typeface="Aptos Mono"/>
                <a:cs typeface="Aptos Mono"/>
              </a:defRPr>
            </a:pPr>
            <a:r>
              <a:rPr sz="1200" b="1" dirty="0">
                <a:solidFill>
                  <a:srgbClr val="0E7C7B"/>
                </a:solidFill>
                <a:latin typeface="Aptos Mono"/>
                <a:ea typeface="Aptos Mono"/>
                <a:cs typeface="Aptos Mono"/>
              </a:rPr>
              <a:t>sha256 / </a:t>
            </a:r>
            <a:r>
              <a:rPr sz="1200" b="1" dirty="0" err="1">
                <a:solidFill>
                  <a:srgbClr val="0E7C7B"/>
                </a:solidFill>
                <a:latin typeface="Aptos Mono"/>
                <a:ea typeface="Aptos Mono"/>
                <a:cs typeface="Aptos Mono"/>
              </a:rPr>
              <a:t>allowed_uses</a:t>
            </a:r>
            <a:endParaRPr sz="1200" b="1" dirty="0">
              <a:solidFill>
                <a:srgbClr val="0E7C7B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81FF93E-1718-40E2-810A-7379988421F0}"/>
              </a:ext>
            </a:extLst>
          </p:cNvPr>
          <p:cNvSpPr>
            <a:spLocks noGrp="1"/>
          </p:cNvSpPr>
          <p:nvPr/>
        </p:nvSpPr>
        <p:spPr>
          <a:xfrm>
            <a:off x="7791450" y="55816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审计和安全约束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C746EA8-BC9B-4EEE-83F3-0EF14976DF2F}"/>
              </a:ext>
            </a:extLst>
          </p:cNvPr>
          <p:cNvSpPr>
            <a:spLocks noGrp="1"/>
          </p:cNvSpPr>
          <p:nvPr/>
        </p:nvSpPr>
        <p:spPr>
          <a:xfrm>
            <a:off x="819150" y="6153150"/>
            <a:ext cx="933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讲解口径：chunk</a:t>
            </a:r>
            <a:r>
              <a:rPr sz="1200" b="1" dirty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 的目标不是“</a:t>
            </a:r>
            <a:r>
              <a:rPr sz="1200" b="1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越碎越好</a:t>
            </a:r>
            <a:r>
              <a:rPr sz="1200" b="1" dirty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”，</a:t>
            </a:r>
            <a:r>
              <a:rPr sz="1200" b="1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而是在检索准确性、上下文完整性和引用可追溯之间折中</a:t>
            </a:r>
            <a:r>
              <a:rPr sz="1200" b="1" dirty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1362688-6AD3-452F-A2FB-7C12D7B37A06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A6F65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7A6F65"/>
                </a:solidFill>
                <a:latin typeface="PingFang SC"/>
                <a:ea typeface="PingFang SC"/>
                <a:cs typeface="PingFang SC"/>
              </a:rPr>
              <a:t>source: 03_chunk_splitting_process_demo.md + fulltext_vector_manifest.json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30AFDD9-F397-4A24-B51C-9AF006ADB1A0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9662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6944D5D0-CF90-484A-9F79-2A473E36E3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364290-865A-4DFA-BBAE-BBCDACD82D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D83A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395FC4-1D81-4C74-8761-0F2214DAA77B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REAL CHUNK STATE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56BAB94-3EBA-4170-B9D7-4B08BAA823FB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287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D243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真实切分状态可以分两层讲：正式摘要库 + PDF 细切库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CC95E9-5E45-47F0-B8E5-69368B5C7D2F}"/>
              </a:ext>
            </a:extLst>
          </p:cNvPr>
          <p:cNvSpPr>
            <a:spLocks noGrp="1"/>
          </p:cNvSpPr>
          <p:nvPr/>
        </p:nvSpPr>
        <p:spPr>
          <a:xfrm>
            <a:off x="628650" y="148590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摘要库用于当前 demo 的稳定引用；PDF 细切库用于展示更细粒度检索与后续扩展。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9AD1263-1E45-4595-97B2-3DFE54C61C69}"/>
              </a:ext>
            </a:extLst>
          </p:cNvPr>
          <p:cNvSpPr>
            <a:spLocks noGrp="1"/>
          </p:cNvSpPr>
          <p:nvPr/>
        </p:nvSpPr>
        <p:spPr>
          <a:xfrm>
            <a:off x="666750" y="1857375"/>
            <a:ext cx="21907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3A34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7FD389-AC0B-4E07-A5B3-C1E88F898146}"/>
              </a:ext>
            </a:extLst>
          </p:cNvPr>
          <p:cNvSpPr>
            <a:spLocks noGrp="1"/>
          </p:cNvSpPr>
          <p:nvPr/>
        </p:nvSpPr>
        <p:spPr>
          <a:xfrm>
            <a:off x="838200" y="1990725"/>
            <a:ext cx="1847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584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4736B2-FEF9-4228-9204-E5DC886F0B1C}"/>
              </a:ext>
            </a:extLst>
          </p:cNvPr>
          <p:cNvSpPr>
            <a:spLocks noGrp="1"/>
          </p:cNvSpPr>
          <p:nvPr/>
        </p:nvSpPr>
        <p:spPr>
          <a:xfrm>
            <a:off x="838200" y="2466975"/>
            <a:ext cx="1847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正式摘要 chunks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A230130-C920-45C0-B7E2-BA3B883EDA2B}"/>
              </a:ext>
            </a:extLst>
          </p:cNvPr>
          <p:cNvSpPr>
            <a:spLocks noGrp="1"/>
          </p:cNvSpPr>
          <p:nvPr/>
        </p:nvSpPr>
        <p:spPr>
          <a:xfrm>
            <a:off x="838200" y="2733675"/>
            <a:ext cx="1847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平均 153.5 字；中位数 76 字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BC51BC9-6E07-4943-9B48-B8ED15D14785}"/>
              </a:ext>
            </a:extLst>
          </p:cNvPr>
          <p:cNvSpPr>
            <a:spLocks noGrp="1"/>
          </p:cNvSpPr>
          <p:nvPr/>
        </p:nvSpPr>
        <p:spPr>
          <a:xfrm>
            <a:off x="3105150" y="1857375"/>
            <a:ext cx="21907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EE509D-E7BE-43CA-9F38-07E7B9B70028}"/>
              </a:ext>
            </a:extLst>
          </p:cNvPr>
          <p:cNvSpPr>
            <a:spLocks noGrp="1"/>
          </p:cNvSpPr>
          <p:nvPr/>
        </p:nvSpPr>
        <p:spPr>
          <a:xfrm>
            <a:off x="3276600" y="1990725"/>
            <a:ext cx="1847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13,168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FFAC2CC-8244-44F1-9C1C-D8258898CFC0}"/>
              </a:ext>
            </a:extLst>
          </p:cNvPr>
          <p:cNvSpPr>
            <a:spLocks noGrp="1"/>
          </p:cNvSpPr>
          <p:nvPr/>
        </p:nvSpPr>
        <p:spPr>
          <a:xfrm>
            <a:off x="3276600" y="2466975"/>
            <a:ext cx="1847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PDF 细切 chunks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A47D80-9306-456E-AB35-6C375276C793}"/>
              </a:ext>
            </a:extLst>
          </p:cNvPr>
          <p:cNvSpPr>
            <a:spLocks noGrp="1"/>
          </p:cNvSpPr>
          <p:nvPr/>
        </p:nvSpPr>
        <p:spPr>
          <a:xfrm>
            <a:off x="3276600" y="2733675"/>
            <a:ext cx="1847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62 个来源；2,220 页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B70C679-9E93-4E85-86CF-DE5E52DC3E5C}"/>
              </a:ext>
            </a:extLst>
          </p:cNvPr>
          <p:cNvSpPr>
            <a:spLocks noGrp="1"/>
          </p:cNvSpPr>
          <p:nvPr/>
        </p:nvSpPr>
        <p:spPr>
          <a:xfrm>
            <a:off x="5543550" y="1864995"/>
            <a:ext cx="21907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B7791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D95E842-3925-4828-8DFD-BBEA75C49D48}"/>
              </a:ext>
            </a:extLst>
          </p:cNvPr>
          <p:cNvSpPr>
            <a:spLocks noGrp="1"/>
          </p:cNvSpPr>
          <p:nvPr/>
        </p:nvSpPr>
        <p:spPr>
          <a:xfrm>
            <a:off x="5715000" y="1990725"/>
            <a:ext cx="1847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B7791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dirty="0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850 / 140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4EDE898-B3A3-48FD-9C8D-78D4E7CE0651}"/>
              </a:ext>
            </a:extLst>
          </p:cNvPr>
          <p:cNvSpPr>
            <a:spLocks noGrp="1"/>
          </p:cNvSpPr>
          <p:nvPr/>
        </p:nvSpPr>
        <p:spPr>
          <a:xfrm>
            <a:off x="5715000" y="2466975"/>
            <a:ext cx="1847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切分参数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620B845-AD9A-4FCE-8D0E-D5C2891215C1}"/>
              </a:ext>
            </a:extLst>
          </p:cNvPr>
          <p:cNvSpPr>
            <a:spLocks noGrp="1"/>
          </p:cNvSpPr>
          <p:nvPr/>
        </p:nvSpPr>
        <p:spPr>
          <a:xfrm>
            <a:off x="5715000" y="2733675"/>
            <a:ext cx="1847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目标字符 / 重叠字符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4AC9925-D7FC-4814-920A-03D638747765}"/>
              </a:ext>
            </a:extLst>
          </p:cNvPr>
          <p:cNvSpPr>
            <a:spLocks noGrp="1"/>
          </p:cNvSpPr>
          <p:nvPr/>
        </p:nvSpPr>
        <p:spPr>
          <a:xfrm>
            <a:off x="7981950" y="1857375"/>
            <a:ext cx="21907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03CB5F4-0288-4059-85CF-C8D7011ACCC0}"/>
              </a:ext>
            </a:extLst>
          </p:cNvPr>
          <p:cNvSpPr>
            <a:spLocks noGrp="1"/>
          </p:cNvSpPr>
          <p:nvPr/>
        </p:nvSpPr>
        <p:spPr>
          <a:xfrm>
            <a:off x="8153400" y="1990725"/>
            <a:ext cx="1847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384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03512FD-7A35-4A44-80D9-436B6DAFAF41}"/>
              </a:ext>
            </a:extLst>
          </p:cNvPr>
          <p:cNvSpPr>
            <a:spLocks noGrp="1"/>
          </p:cNvSpPr>
          <p:nvPr/>
        </p:nvSpPr>
        <p:spPr>
          <a:xfrm>
            <a:off x="8153400" y="2466975"/>
            <a:ext cx="1847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向量维度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FDC03C8-2B9B-4038-A30A-83F04138BAA3}"/>
              </a:ext>
            </a:extLst>
          </p:cNvPr>
          <p:cNvSpPr>
            <a:spLocks noGrp="1"/>
          </p:cNvSpPr>
          <p:nvPr/>
        </p:nvSpPr>
        <p:spPr>
          <a:xfrm>
            <a:off x="8153400" y="2733675"/>
            <a:ext cx="1847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local hashing vector index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E86AA4B-CD6B-485C-AC64-58C14F7E3C0E}"/>
              </a:ext>
            </a:extLst>
          </p:cNvPr>
          <p:cNvSpPr>
            <a:spLocks noGrp="1"/>
          </p:cNvSpPr>
          <p:nvPr/>
        </p:nvSpPr>
        <p:spPr>
          <a:xfrm>
            <a:off x="723900" y="3609975"/>
            <a:ext cx="247650" cy="28575"/>
          </a:xfrm>
          <a:prstGeom prst="rect">
            <a:avLst/>
          </a:prstGeom>
          <a:solidFill>
            <a:srgbClr val="D83A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3BCF7A3-BE6E-40F2-9E53-6CF17FA383C0}"/>
              </a:ext>
            </a:extLst>
          </p:cNvPr>
          <p:cNvSpPr>
            <a:spLocks noGrp="1"/>
          </p:cNvSpPr>
          <p:nvPr/>
        </p:nvSpPr>
        <p:spPr>
          <a:xfrm>
            <a:off x="1047750" y="3524250"/>
            <a:ext cx="34290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可展示的真实 chunk 样例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73B7E26-5465-44F3-AA7E-DA4FAF74969C}"/>
              </a:ext>
            </a:extLst>
          </p:cNvPr>
          <p:cNvSpPr>
            <a:spLocks noGrp="1"/>
          </p:cNvSpPr>
          <p:nvPr/>
        </p:nvSpPr>
        <p:spPr>
          <a:xfrm>
            <a:off x="742950" y="3924300"/>
            <a:ext cx="4762500" cy="1524000"/>
          </a:xfrm>
          <a:prstGeom prst="rect">
            <a:avLst/>
          </a:prstGeom>
          <a:solidFill>
            <a:srgbClr val="FDEDEC"/>
          </a:solidFill>
          <a:ln w="9525">
            <a:solidFill>
              <a:srgbClr val="EDB4B0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6BE6AC3-EACD-48D1-B954-FD757BD7A863}"/>
              </a:ext>
            </a:extLst>
          </p:cNvPr>
          <p:cNvSpPr>
            <a:spLocks noGrp="1"/>
          </p:cNvSpPr>
          <p:nvPr/>
        </p:nvSpPr>
        <p:spPr>
          <a:xfrm>
            <a:off x="990600" y="40957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summary chunk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4E8C38-55F0-4751-A0B3-871FDBE605CD}"/>
              </a:ext>
            </a:extLst>
          </p:cNvPr>
          <p:cNvSpPr>
            <a:spLocks noGrp="1"/>
          </p:cNvSpPr>
          <p:nvPr/>
        </p:nvSpPr>
        <p:spPr>
          <a:xfrm>
            <a:off x="990600" y="440055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5405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354052"/>
                </a:solidFill>
                <a:latin typeface="Aptos Mono"/>
                <a:ea typeface="Aptos Mono"/>
                <a:cs typeface="Aptos Mono"/>
              </a:rPr>
              <a:t>acc_aha_2025_full_guideline_record_002</a:t>
            </a:r>
          </a:p>
          <a:p>
            <a:pPr algn="l">
              <a:defRPr sz="975" b="0">
                <a:solidFill>
                  <a:srgbClr val="35405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354052"/>
                </a:solidFill>
                <a:latin typeface="Aptos Mono"/>
                <a:ea typeface="Aptos Mono"/>
                <a:cs typeface="Aptos Mono"/>
              </a:rPr>
              <a:t>len=85 | topic=bp_categories | evidence_class=guideline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9338F74-31B0-48CF-A472-BE89217BBD7B}"/>
              </a:ext>
            </a:extLst>
          </p:cNvPr>
          <p:cNvSpPr>
            <a:spLocks noGrp="1"/>
          </p:cNvSpPr>
          <p:nvPr/>
        </p:nvSpPr>
        <p:spPr>
          <a:xfrm>
            <a:off x="990600" y="4914900"/>
            <a:ext cx="4000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可用于报告的要点：规范测量、重复读数、合适袖带和经验证设备是血压解释前提；PPG 或无袖带估算值不能替代指南要求的测量。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470CE8D-D3BB-4EC0-9282-2E4422E14F1D}"/>
              </a:ext>
            </a:extLst>
          </p:cNvPr>
          <p:cNvSpPr>
            <a:spLocks noGrp="1"/>
          </p:cNvSpPr>
          <p:nvPr/>
        </p:nvSpPr>
        <p:spPr>
          <a:xfrm>
            <a:off x="6000750" y="3924300"/>
            <a:ext cx="4762500" cy="1600200"/>
          </a:xfrm>
          <a:prstGeom prst="rect">
            <a:avLst/>
          </a:prstGeom>
          <a:solidFill>
            <a:srgbClr val="E6F3F2"/>
          </a:solidFill>
          <a:ln w="9525">
            <a:solidFill>
              <a:srgbClr val="A4D7D5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59CEA23-6FEC-4FA3-9FED-2843CE94E564}"/>
              </a:ext>
            </a:extLst>
          </p:cNvPr>
          <p:cNvSpPr>
            <a:spLocks noGrp="1"/>
          </p:cNvSpPr>
          <p:nvPr/>
        </p:nvSpPr>
        <p:spPr>
          <a:xfrm>
            <a:off x="6248400" y="40957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fulltext chunk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924D3DC-9985-4ECF-8E3B-D2AF6AD849F9}"/>
              </a:ext>
            </a:extLst>
          </p:cNvPr>
          <p:cNvSpPr>
            <a:spLocks noGrp="1"/>
          </p:cNvSpPr>
          <p:nvPr/>
        </p:nvSpPr>
        <p:spPr>
          <a:xfrm>
            <a:off x="6248400" y="440055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5405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354052"/>
                </a:solidFill>
                <a:latin typeface="Aptos Mono"/>
                <a:ea typeface="Aptos Mono"/>
                <a:cs typeface="Aptos Mono"/>
              </a:rPr>
              <a:t>fulltext::aha_cuffless_bp_scientific_statement::p007::c01</a:t>
            </a:r>
          </a:p>
          <a:p>
            <a:pPr algn="l">
              <a:defRPr sz="975" b="0">
                <a:solidFill>
                  <a:srgbClr val="35405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354052"/>
                </a:solidFill>
                <a:latin typeface="Aptos Mono"/>
                <a:ea typeface="Aptos Mono"/>
                <a:cs typeface="Aptos Mono"/>
              </a:rPr>
              <a:t>page=7 | overlap=yes | local PDF source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F24FFCC-5C85-4D3B-A667-B57332690EBF}"/>
              </a:ext>
            </a:extLst>
          </p:cNvPr>
          <p:cNvSpPr>
            <a:spLocks noGrp="1"/>
          </p:cNvSpPr>
          <p:nvPr/>
        </p:nvSpPr>
        <p:spPr>
          <a:xfrm>
            <a:off x="6248400" y="491490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全文细切 chunk 会保留页码和 source_id，用来展示 PDF 原文如何被切成可检索证据块；正式报告仍先走审校后的摘要 KB。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8D5DA5F-E0D9-4E4B-A0FA-B94B1A7706CC}"/>
              </a:ext>
            </a:extLst>
          </p:cNvPr>
          <p:cNvSpPr>
            <a:spLocks noGrp="1"/>
          </p:cNvSpPr>
          <p:nvPr/>
        </p:nvSpPr>
        <p:spPr>
          <a:xfrm>
            <a:off x="781050" y="5981700"/>
            <a:ext cx="952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现场演示建议：打开 chunks.jsonl 展示摘要 chunk，再打开 fulltext_vector_manifest.json 展示 62 PDF、2,220 页、13,168 chunks。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6280144-5F5C-42D7-BD97-A6C951DB012D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A6F65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7A6F65"/>
                </a:solidFill>
                <a:latin typeface="PingFang SC"/>
                <a:ea typeface="PingFang SC"/>
                <a:cs typeface="PingFang SC"/>
              </a:rPr>
              <a:t>source: chunks.jsonl + fulltext_vector_manifest.json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68AFA10-2C44-40A1-8E2F-4E92994F2E90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68703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AF741D90-44B2-40DA-B0F1-5673C9E7D3F8}"/>
              </a:ext>
            </a:extLst>
          </p:cNvPr>
          <p:cNvSpPr>
            <a:spLocks noGrp="1"/>
          </p:cNvSpPr>
          <p:nvPr/>
        </p:nvSpPr>
        <p:spPr>
          <a:xfrm>
            <a:off x="0" y="257175"/>
            <a:ext cx="12192000" cy="6858000"/>
          </a:xfrm>
          <a:prstGeom prst="rect">
            <a:avLst/>
          </a:prstGeom>
          <a:solidFill>
            <a:srgbClr val="F7F5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7936D3-8ABC-417F-8C4A-961DFC8F38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D83A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32F47F-2B6F-4B5B-91D8-221680EEBE72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VECTOR METHODS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BE1CDA-B3A6-4D28-AC6D-5F72C2C0C6C5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287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D243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dirty="0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embedding </a:t>
            </a:r>
            <a:r>
              <a:rPr sz="2850" b="1" dirty="0" err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模型向量和hashing</a:t>
            </a:r>
            <a:r>
              <a:rPr sz="2850" b="1" dirty="0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 vector</a:t>
            </a:r>
            <a:r>
              <a:rPr lang="zh-CN" altLang="en-US" sz="2850" b="1" dirty="0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（当前）</a:t>
            </a:r>
            <a:r>
              <a:rPr sz="2850" b="1" dirty="0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7C61346-24DC-4414-96F7-67CD1F7ED385}"/>
              </a:ext>
            </a:extLst>
          </p:cNvPr>
          <p:cNvSpPr>
            <a:spLocks noGrp="1"/>
          </p:cNvSpPr>
          <p:nvPr/>
        </p:nvSpPr>
        <p:spPr>
          <a:xfrm>
            <a:off x="628650" y="148590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这页给老师讲“为什么现在能本地跑、为什么后续还能升级到 embedding 模型”。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787561-1DF0-440A-9C2D-B87F09676128}"/>
              </a:ext>
            </a:extLst>
          </p:cNvPr>
          <p:cNvSpPr>
            <a:spLocks noGrp="1"/>
          </p:cNvSpPr>
          <p:nvPr/>
        </p:nvSpPr>
        <p:spPr>
          <a:xfrm>
            <a:off x="742950" y="1952625"/>
            <a:ext cx="4953000" cy="3333750"/>
          </a:xfrm>
          <a:prstGeom prst="rect">
            <a:avLst/>
          </a:prstGeom>
          <a:solidFill>
            <a:srgbClr val="E6F3F2"/>
          </a:solidFill>
          <a:ln w="11430">
            <a:solidFill>
              <a:srgbClr val="A7D6D3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19478C-38AE-4F4F-BF78-21E8E2B9C8C1}"/>
              </a:ext>
            </a:extLst>
          </p:cNvPr>
          <p:cNvSpPr>
            <a:spLocks noGrp="1"/>
          </p:cNvSpPr>
          <p:nvPr/>
        </p:nvSpPr>
        <p:spPr>
          <a:xfrm>
            <a:off x="6496050" y="1952625"/>
            <a:ext cx="4953000" cy="3333750"/>
          </a:xfrm>
          <a:prstGeom prst="rect">
            <a:avLst/>
          </a:prstGeom>
          <a:solidFill>
            <a:srgbClr val="EAF1FF"/>
          </a:solidFill>
          <a:ln w="11430">
            <a:solidFill>
              <a:srgbClr val="B7CBFF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358A468-6053-41B6-B858-583C46AEA458}"/>
              </a:ext>
            </a:extLst>
          </p:cNvPr>
          <p:cNvSpPr>
            <a:spLocks noGrp="1"/>
          </p:cNvSpPr>
          <p:nvPr/>
        </p:nvSpPr>
        <p:spPr>
          <a:xfrm>
            <a:off x="1028700" y="2190750"/>
            <a:ext cx="4095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 dirty="0" err="1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本次使用：local</a:t>
            </a:r>
            <a:r>
              <a:rPr sz="1950" b="1" dirty="0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 hashing vector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AE059E5-2EB8-4D54-A939-E96BBC4B556A}"/>
              </a:ext>
            </a:extLst>
          </p:cNvPr>
          <p:cNvSpPr>
            <a:spLocks noGrp="1"/>
          </p:cNvSpPr>
          <p:nvPr/>
        </p:nvSpPr>
        <p:spPr>
          <a:xfrm>
            <a:off x="1028700" y="2628900"/>
            <a:ext cx="4095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可理解为：把词项通过哈希映射到固定维度，再按词频</a:t>
            </a:r>
            <a:r>
              <a:rPr sz="1275" b="0" dirty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sz="1275" b="0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权重形成向量</a:t>
            </a:r>
            <a:r>
              <a:rPr sz="1275" b="0" dirty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A2D7411-8218-4F53-A427-8ED92D264059}"/>
              </a:ext>
            </a:extLst>
          </p:cNvPr>
          <p:cNvSpPr>
            <a:spLocks noGrp="1"/>
          </p:cNvSpPr>
          <p:nvPr/>
        </p:nvSpPr>
        <p:spPr>
          <a:xfrm>
            <a:off x="1066800" y="3295650"/>
            <a:ext cx="66675" cy="66675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E15438-2322-4208-BAD9-90641F955541}"/>
              </a:ext>
            </a:extLst>
          </p:cNvPr>
          <p:cNvSpPr>
            <a:spLocks noGrp="1"/>
          </p:cNvSpPr>
          <p:nvPr/>
        </p:nvSpPr>
        <p:spPr>
          <a:xfrm>
            <a:off x="1238250" y="3219450"/>
            <a:ext cx="400050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完全本地，PDF</a:t>
            </a:r>
            <a:r>
              <a:rPr sz="1275" b="0" dirty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75" b="0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文本不发给外部</a:t>
            </a:r>
            <a:r>
              <a:rPr sz="1275" b="0" dirty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 API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023A906-DED4-42A1-8276-FCF732745628}"/>
              </a:ext>
            </a:extLst>
          </p:cNvPr>
          <p:cNvSpPr>
            <a:spLocks noGrp="1"/>
          </p:cNvSpPr>
          <p:nvPr/>
        </p:nvSpPr>
        <p:spPr>
          <a:xfrm>
            <a:off x="1066800" y="3686175"/>
            <a:ext cx="66675" cy="66675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0EB3C1E-027A-4104-9E0B-97865421FA1B}"/>
              </a:ext>
            </a:extLst>
          </p:cNvPr>
          <p:cNvSpPr>
            <a:spLocks noGrp="1"/>
          </p:cNvSpPr>
          <p:nvPr/>
        </p:nvSpPr>
        <p:spPr>
          <a:xfrm>
            <a:off x="1238250" y="3609975"/>
            <a:ext cx="400050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确定性强，便于审计和复现</a:t>
            </a:r>
            <a:endParaRPr sz="1275" b="0" dirty="0">
              <a:solidFill>
                <a:srgbClr val="35405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895A68B-0CA0-4115-82D9-CA168F2EA18F}"/>
              </a:ext>
            </a:extLst>
          </p:cNvPr>
          <p:cNvSpPr>
            <a:spLocks noGrp="1"/>
          </p:cNvSpPr>
          <p:nvPr/>
        </p:nvSpPr>
        <p:spPr>
          <a:xfrm>
            <a:off x="1066800" y="4076700"/>
            <a:ext cx="66675" cy="66675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A2454FA-4B97-4223-B415-96BB3C720C1D}"/>
              </a:ext>
            </a:extLst>
          </p:cNvPr>
          <p:cNvSpPr>
            <a:spLocks noGrp="1"/>
          </p:cNvSpPr>
          <p:nvPr/>
        </p:nvSpPr>
        <p:spPr>
          <a:xfrm>
            <a:off x="1238250" y="4000500"/>
            <a:ext cx="400050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成本低，适合作为</a:t>
            </a:r>
            <a:r>
              <a:rPr sz="1275" b="0" dirty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 demo </a:t>
            </a:r>
            <a:r>
              <a:rPr sz="1275" b="0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和质量门控基线</a:t>
            </a:r>
            <a:endParaRPr sz="1275" b="0" dirty="0">
              <a:solidFill>
                <a:srgbClr val="35405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036F9B4-7452-4D4D-BDC4-3F5F00C76018}"/>
              </a:ext>
            </a:extLst>
          </p:cNvPr>
          <p:cNvSpPr>
            <a:spLocks noGrp="1"/>
          </p:cNvSpPr>
          <p:nvPr/>
        </p:nvSpPr>
        <p:spPr>
          <a:xfrm>
            <a:off x="1066800" y="4467225"/>
            <a:ext cx="66675" cy="66675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E4C2250-B6A5-4026-9F7D-2DAA0AB7A9CB}"/>
              </a:ext>
            </a:extLst>
          </p:cNvPr>
          <p:cNvSpPr>
            <a:spLocks noGrp="1"/>
          </p:cNvSpPr>
          <p:nvPr/>
        </p:nvSpPr>
        <p:spPr>
          <a:xfrm>
            <a:off x="1238250" y="4391025"/>
            <a:ext cx="400050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弱点：对同义表达、深层语义理解不如神经</a:t>
            </a:r>
            <a:r>
              <a:rPr sz="1275" b="0" dirty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 embedding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8B3476E-E298-4547-A40E-37E36B2C8390}"/>
              </a:ext>
            </a:extLst>
          </p:cNvPr>
          <p:cNvSpPr>
            <a:spLocks noGrp="1"/>
          </p:cNvSpPr>
          <p:nvPr/>
        </p:nvSpPr>
        <p:spPr>
          <a:xfrm>
            <a:off x="4324350" y="4762500"/>
            <a:ext cx="857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800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384 维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4E3F8FA-9231-4A3E-8715-7C3A4CB03A04}"/>
              </a:ext>
            </a:extLst>
          </p:cNvPr>
          <p:cNvSpPr>
            <a:spLocks noGrp="1"/>
          </p:cNvSpPr>
          <p:nvPr/>
        </p:nvSpPr>
        <p:spPr>
          <a:xfrm>
            <a:off x="1066800" y="4819650"/>
            <a:ext cx="3143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manifest backend: local_hashing_vectors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511BE1B-D555-4EA8-8242-C1B24EED1882}"/>
              </a:ext>
            </a:extLst>
          </p:cNvPr>
          <p:cNvSpPr>
            <a:spLocks noGrp="1"/>
          </p:cNvSpPr>
          <p:nvPr/>
        </p:nvSpPr>
        <p:spPr>
          <a:xfrm>
            <a:off x="6781800" y="2190750"/>
            <a:ext cx="4095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 dirty="0" err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可升级：embedding</a:t>
            </a:r>
            <a:r>
              <a:rPr sz="1950" b="1" dirty="0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 model vector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770CA0B-ACDD-40C1-9F2C-33BE70FB8E75}"/>
              </a:ext>
            </a:extLst>
          </p:cNvPr>
          <p:cNvSpPr>
            <a:spLocks noGrp="1"/>
          </p:cNvSpPr>
          <p:nvPr/>
        </p:nvSpPr>
        <p:spPr>
          <a:xfrm>
            <a:off x="6781800" y="2628900"/>
            <a:ext cx="4095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可理解为：由神经网络模型把文本语义压缩成向量，语义相近的句子距离更近</a:t>
            </a:r>
            <a:r>
              <a:rPr sz="1275" b="0" dirty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C7A2EFE-EA4A-4E64-8841-17BCC638848B}"/>
              </a:ext>
            </a:extLst>
          </p:cNvPr>
          <p:cNvSpPr>
            <a:spLocks noGrp="1"/>
          </p:cNvSpPr>
          <p:nvPr/>
        </p:nvSpPr>
        <p:spPr>
          <a:xfrm>
            <a:off x="6819900" y="3295650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1FD5FCB-18D9-4C2D-856B-3FC34D0226B5}"/>
              </a:ext>
            </a:extLst>
          </p:cNvPr>
          <p:cNvSpPr>
            <a:spLocks noGrp="1"/>
          </p:cNvSpPr>
          <p:nvPr/>
        </p:nvSpPr>
        <p:spPr>
          <a:xfrm>
            <a:off x="6991350" y="3219450"/>
            <a:ext cx="400050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语义检索能力通常更强，适合复杂问法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61B8BA6-7028-4B00-974F-B628CEB4C16D}"/>
              </a:ext>
            </a:extLst>
          </p:cNvPr>
          <p:cNvSpPr>
            <a:spLocks noGrp="1"/>
          </p:cNvSpPr>
          <p:nvPr/>
        </p:nvSpPr>
        <p:spPr>
          <a:xfrm>
            <a:off x="6819900" y="3686175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03E68C9-EEFE-4103-B6D8-214B0DF5F777}"/>
              </a:ext>
            </a:extLst>
          </p:cNvPr>
          <p:cNvSpPr>
            <a:spLocks noGrp="1"/>
          </p:cNvSpPr>
          <p:nvPr/>
        </p:nvSpPr>
        <p:spPr>
          <a:xfrm>
            <a:off x="6991350" y="3609975"/>
            <a:ext cx="400050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可处理同义词、转述、跨语言等场景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B4C96B7-4AC7-4583-8C5A-07F8CFAD49B5}"/>
              </a:ext>
            </a:extLst>
          </p:cNvPr>
          <p:cNvSpPr>
            <a:spLocks noGrp="1"/>
          </p:cNvSpPr>
          <p:nvPr/>
        </p:nvSpPr>
        <p:spPr>
          <a:xfrm>
            <a:off x="6819900" y="4076700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F6C0D1A-6C69-4FCB-B00D-F8C11ECF4C43}"/>
              </a:ext>
            </a:extLst>
          </p:cNvPr>
          <p:cNvSpPr>
            <a:spLocks noGrp="1"/>
          </p:cNvSpPr>
          <p:nvPr/>
        </p:nvSpPr>
        <p:spPr>
          <a:xfrm>
            <a:off x="6991350" y="4000500"/>
            <a:ext cx="400050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需要模型版本、成本、隐私和部署策略</a:t>
            </a:r>
            <a:endParaRPr sz="1275" b="0" dirty="0">
              <a:solidFill>
                <a:srgbClr val="35405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86DEDF1-702C-47E5-9367-9BE042C0399C}"/>
              </a:ext>
            </a:extLst>
          </p:cNvPr>
          <p:cNvSpPr>
            <a:spLocks noGrp="1"/>
          </p:cNvSpPr>
          <p:nvPr/>
        </p:nvSpPr>
        <p:spPr>
          <a:xfrm>
            <a:off x="6819900" y="4467225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567FE85-99FC-4322-81E6-F5DBD38D7130}"/>
              </a:ext>
            </a:extLst>
          </p:cNvPr>
          <p:cNvSpPr>
            <a:spLocks noGrp="1"/>
          </p:cNvSpPr>
          <p:nvPr/>
        </p:nvSpPr>
        <p:spPr>
          <a:xfrm>
            <a:off x="6991350" y="4391025"/>
            <a:ext cx="400050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后续可作为对照实验：hashing vs embedding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B9B736F-6373-44D2-A869-070A7440A052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A6F65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7A6F65"/>
                </a:solidFill>
                <a:latin typeface="PingFang SC"/>
                <a:ea typeface="PingFang SC"/>
                <a:cs typeface="PingFang SC"/>
              </a:rPr>
              <a:t>source: fulltext_vector_manifest.json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2BAF33E-209A-4D7F-8E4A-FACF6066F8E8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70358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AFC79AD4-53AF-4CBB-B0A4-96F3AAD6BEEB}"/>
              </a:ext>
            </a:extLst>
          </p:cNvPr>
          <p:cNvSpPr>
            <a:spLocks noGrp="1"/>
          </p:cNvSpPr>
          <p:nvPr/>
        </p:nvSpPr>
        <p:spPr>
          <a:xfrm>
            <a:off x="101600" y="428625"/>
            <a:ext cx="12192000" cy="6858000"/>
          </a:xfrm>
          <a:prstGeom prst="rect">
            <a:avLst/>
          </a:prstGeom>
          <a:solidFill>
            <a:srgbClr val="F7F5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CE73EC-86B4-4F7A-9E17-0EF36482DA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D83A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7D80746-9B83-44E9-BF75-1167E59194B9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DEMO ARCHITECTURE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EB405E-3D84-460C-8044-47ACA4553514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287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D243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dirty="0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demo </a:t>
            </a:r>
            <a:r>
              <a:rPr sz="2850" b="1" dirty="0" err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的核心是“结构化输入</a:t>
            </a:r>
            <a:r>
              <a:rPr sz="2850" b="1" dirty="0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 -&gt; </a:t>
            </a:r>
            <a:r>
              <a:rPr sz="2850" b="1" dirty="0" err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证据约束报告</a:t>
            </a:r>
            <a:r>
              <a:rPr sz="2850" b="1" dirty="0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”，</a:t>
            </a:r>
            <a:r>
              <a:rPr sz="2850" b="1" dirty="0" err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不是单纯问答</a:t>
            </a:r>
            <a:endParaRPr sz="2850" b="1" dirty="0">
              <a:solidFill>
                <a:srgbClr val="1D2433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8F6B0A-D19B-4528-8DE3-C196783629D9}"/>
              </a:ext>
            </a:extLst>
          </p:cNvPr>
          <p:cNvSpPr>
            <a:spLocks noGrp="1"/>
          </p:cNvSpPr>
          <p:nvPr/>
        </p:nvSpPr>
        <p:spPr>
          <a:xfrm>
            <a:off x="628650" y="148590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dirty="0" err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规则引擎负责底线，RAG</a:t>
            </a:r>
            <a:r>
              <a:rPr sz="1275" b="0" dirty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75" b="0" dirty="0" err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负责证据，DeepSeek</a:t>
            </a:r>
            <a:r>
              <a:rPr sz="1275" b="0" dirty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75" b="0" dirty="0" err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负责表达，Safety</a:t>
            </a:r>
            <a:r>
              <a:rPr sz="1275" b="0" dirty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 Agent </a:t>
            </a:r>
            <a:r>
              <a:rPr sz="1275" b="0" dirty="0" err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负责最终拦截</a:t>
            </a:r>
            <a:r>
              <a:rPr sz="1275" b="0" dirty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C2ED0A-B278-4D09-82C5-C7F1038B3D02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1571625" cy="1381125"/>
          </a:xfrm>
          <a:prstGeom prst="rect">
            <a:avLst/>
          </a:prstGeom>
          <a:solidFill>
            <a:srgbClr val="EAF1FF"/>
          </a:solidFill>
          <a:ln w="14288">
            <a:solidFill>
              <a:srgbClr val="2563E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6797E6-4AC4-4337-AB62-23D7B04303EC}"/>
              </a:ext>
            </a:extLst>
          </p:cNvPr>
          <p:cNvSpPr>
            <a:spLocks noGrp="1"/>
          </p:cNvSpPr>
          <p:nvPr/>
        </p:nvSpPr>
        <p:spPr>
          <a:xfrm>
            <a:off x="819150" y="2228850"/>
            <a:ext cx="12668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小程序输入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145896E-DD3E-41E0-BE52-AA749386C78C}"/>
              </a:ext>
            </a:extLst>
          </p:cNvPr>
          <p:cNvSpPr>
            <a:spLocks noGrp="1"/>
          </p:cNvSpPr>
          <p:nvPr/>
        </p:nvSpPr>
        <p:spPr>
          <a:xfrm>
            <a:off x="819150" y="2571750"/>
            <a:ext cx="1266825" cy="809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SBP / DBP</a:t>
            </a:r>
          </a:p>
          <a:p>
            <a:pPr algn="l">
              <a:defRPr sz="97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心率</a:t>
            </a:r>
          </a:p>
          <a:p>
            <a:pPr algn="l">
              <a:defRPr sz="97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信号质量</a:t>
            </a:r>
          </a:p>
          <a:p>
            <a:pPr algn="l">
              <a:defRPr sz="97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置信度</a:t>
            </a:r>
          </a:p>
          <a:p>
            <a:pPr algn="l">
              <a:defRPr sz="97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症状与病史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8455551-C811-4DA9-B40D-F4E3B551F960}"/>
              </a:ext>
            </a:extLst>
          </p:cNvPr>
          <p:cNvSpPr>
            <a:spLocks noGrp="1"/>
          </p:cNvSpPr>
          <p:nvPr/>
        </p:nvSpPr>
        <p:spPr>
          <a:xfrm>
            <a:off x="2286000" y="2762250"/>
            <a:ext cx="476250" cy="2857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8BAB6A-4B27-4436-B13F-4A3ACFE05080}"/>
              </a:ext>
            </a:extLst>
          </p:cNvPr>
          <p:cNvSpPr>
            <a:spLocks noGrp="1"/>
          </p:cNvSpPr>
          <p:nvPr/>
        </p:nvSpPr>
        <p:spPr>
          <a:xfrm>
            <a:off x="2686050" y="2647950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D8D2C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8D2C7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6E52AE-0284-402A-88C9-F7FFBED1D421}"/>
              </a:ext>
            </a:extLst>
          </p:cNvPr>
          <p:cNvSpPr>
            <a:spLocks noGrp="1"/>
          </p:cNvSpPr>
          <p:nvPr/>
        </p:nvSpPr>
        <p:spPr>
          <a:xfrm>
            <a:off x="2857500" y="2095500"/>
            <a:ext cx="1571625" cy="1381125"/>
          </a:xfrm>
          <a:prstGeom prst="rect">
            <a:avLst/>
          </a:prstGeom>
          <a:solidFill>
            <a:srgbClr val="FDEDEC"/>
          </a:solidFill>
          <a:ln w="14288">
            <a:solidFill>
              <a:srgbClr val="D83A34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2D7C48-7A64-4C29-AACC-0B0908C5AC8D}"/>
              </a:ext>
            </a:extLst>
          </p:cNvPr>
          <p:cNvSpPr>
            <a:spLocks noGrp="1"/>
          </p:cNvSpPr>
          <p:nvPr/>
        </p:nvSpPr>
        <p:spPr>
          <a:xfrm>
            <a:off x="3009900" y="2228850"/>
            <a:ext cx="12668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规则引擎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876F8F2-B5A7-4163-908B-7E46D7DA8044}"/>
              </a:ext>
            </a:extLst>
          </p:cNvPr>
          <p:cNvSpPr>
            <a:spLocks noGrp="1"/>
          </p:cNvSpPr>
          <p:nvPr/>
        </p:nvSpPr>
        <p:spPr>
          <a:xfrm>
            <a:off x="3009900" y="2571750"/>
            <a:ext cx="1266825" cy="809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先判断急症、低质量信号、特殊人群和安全红线。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9F434EE-57FD-4D7F-B1EB-859BC59E6AFA}"/>
              </a:ext>
            </a:extLst>
          </p:cNvPr>
          <p:cNvSpPr>
            <a:spLocks noGrp="1"/>
          </p:cNvSpPr>
          <p:nvPr/>
        </p:nvSpPr>
        <p:spPr>
          <a:xfrm>
            <a:off x="4476750" y="2762250"/>
            <a:ext cx="476250" cy="2857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BA88D8A-D889-4F98-AD60-66E744969321}"/>
              </a:ext>
            </a:extLst>
          </p:cNvPr>
          <p:cNvSpPr>
            <a:spLocks noGrp="1"/>
          </p:cNvSpPr>
          <p:nvPr/>
        </p:nvSpPr>
        <p:spPr>
          <a:xfrm>
            <a:off x="4876800" y="2647950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D8D2C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8D2C7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E3600A9-7149-4E02-8FB3-2BB00553E018}"/>
              </a:ext>
            </a:extLst>
          </p:cNvPr>
          <p:cNvSpPr>
            <a:spLocks noGrp="1"/>
          </p:cNvSpPr>
          <p:nvPr/>
        </p:nvSpPr>
        <p:spPr>
          <a:xfrm>
            <a:off x="5048250" y="2095500"/>
            <a:ext cx="1571625" cy="1381125"/>
          </a:xfrm>
          <a:prstGeom prst="rect">
            <a:avLst/>
          </a:prstGeom>
          <a:solidFill>
            <a:srgbClr val="E6F3F2"/>
          </a:solidFill>
          <a:ln w="14288">
            <a:solidFill>
              <a:srgbClr val="0E7C7B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D368A5E-4637-44FF-8CFA-F68EE4A1EEC9}"/>
              </a:ext>
            </a:extLst>
          </p:cNvPr>
          <p:cNvSpPr>
            <a:spLocks noGrp="1"/>
          </p:cNvSpPr>
          <p:nvPr/>
        </p:nvSpPr>
        <p:spPr>
          <a:xfrm>
            <a:off x="5200650" y="2228850"/>
            <a:ext cx="12668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RAG 检索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93DB7F9-D8CF-4525-94E4-32DEFE2F8701}"/>
              </a:ext>
            </a:extLst>
          </p:cNvPr>
          <p:cNvSpPr>
            <a:spLocks noGrp="1"/>
          </p:cNvSpPr>
          <p:nvPr/>
        </p:nvSpPr>
        <p:spPr>
          <a:xfrm>
            <a:off x="5200650" y="2571750"/>
            <a:ext cx="1266825" cy="809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按主题与证据等级检索本地</a:t>
            </a:r>
            <a:r>
              <a:rPr sz="975" b="0" dirty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75" b="0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chunks，返回可引用来源</a:t>
            </a:r>
            <a:r>
              <a:rPr sz="975" b="0" dirty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9C854D5-5FC4-4B6C-A83E-D3A0148130AD}"/>
              </a:ext>
            </a:extLst>
          </p:cNvPr>
          <p:cNvSpPr>
            <a:spLocks noGrp="1"/>
          </p:cNvSpPr>
          <p:nvPr/>
        </p:nvSpPr>
        <p:spPr>
          <a:xfrm>
            <a:off x="6667500" y="2762250"/>
            <a:ext cx="476250" cy="2857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F2D84CA-EE20-4469-ACDF-36A4ABC15861}"/>
              </a:ext>
            </a:extLst>
          </p:cNvPr>
          <p:cNvSpPr>
            <a:spLocks noGrp="1"/>
          </p:cNvSpPr>
          <p:nvPr/>
        </p:nvSpPr>
        <p:spPr>
          <a:xfrm>
            <a:off x="7067550" y="2647950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D8D2C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8D2C7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60806B7-C3D6-4146-B63E-B45E0A25547F}"/>
              </a:ext>
            </a:extLst>
          </p:cNvPr>
          <p:cNvSpPr>
            <a:spLocks noGrp="1"/>
          </p:cNvSpPr>
          <p:nvPr/>
        </p:nvSpPr>
        <p:spPr>
          <a:xfrm>
            <a:off x="7239000" y="2095500"/>
            <a:ext cx="1571625" cy="1381125"/>
          </a:xfrm>
          <a:prstGeom prst="rect">
            <a:avLst/>
          </a:prstGeom>
          <a:solidFill>
            <a:srgbClr val="FFF7E6"/>
          </a:solidFill>
          <a:ln w="14288">
            <a:solidFill>
              <a:srgbClr val="B7791F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FA80AE-DB5C-47D7-8A40-6212BAC62416}"/>
              </a:ext>
            </a:extLst>
          </p:cNvPr>
          <p:cNvSpPr>
            <a:spLocks noGrp="1"/>
          </p:cNvSpPr>
          <p:nvPr/>
        </p:nvSpPr>
        <p:spPr>
          <a:xfrm>
            <a:off x="7391400" y="2228850"/>
            <a:ext cx="12668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779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DeepSeek 生成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8C41BEC-994E-4F27-972C-995DA24356C4}"/>
              </a:ext>
            </a:extLst>
          </p:cNvPr>
          <p:cNvSpPr>
            <a:spLocks noGrp="1"/>
          </p:cNvSpPr>
          <p:nvPr/>
        </p:nvSpPr>
        <p:spPr>
          <a:xfrm>
            <a:off x="7391400" y="2571750"/>
            <a:ext cx="1266825" cy="809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把结构化输入和证据组织成用户能读懂的解释。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879F82F-775B-4757-AFE9-FE58180D0797}"/>
              </a:ext>
            </a:extLst>
          </p:cNvPr>
          <p:cNvSpPr>
            <a:spLocks noGrp="1"/>
          </p:cNvSpPr>
          <p:nvPr/>
        </p:nvSpPr>
        <p:spPr>
          <a:xfrm>
            <a:off x="8858250" y="2762250"/>
            <a:ext cx="476250" cy="2857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F753247-9586-4E4C-8B19-D9964D15A633}"/>
              </a:ext>
            </a:extLst>
          </p:cNvPr>
          <p:cNvSpPr>
            <a:spLocks noGrp="1"/>
          </p:cNvSpPr>
          <p:nvPr/>
        </p:nvSpPr>
        <p:spPr>
          <a:xfrm>
            <a:off x="9258300" y="2647950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D8D2C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8D2C7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1E47905-F31B-4EB8-8E44-41351037E711}"/>
              </a:ext>
            </a:extLst>
          </p:cNvPr>
          <p:cNvSpPr>
            <a:spLocks noGrp="1"/>
          </p:cNvSpPr>
          <p:nvPr/>
        </p:nvSpPr>
        <p:spPr>
          <a:xfrm>
            <a:off x="9429750" y="2095500"/>
            <a:ext cx="1714500" cy="1381125"/>
          </a:xfrm>
          <a:prstGeom prst="rect">
            <a:avLst/>
          </a:prstGeom>
          <a:solidFill>
            <a:srgbClr val="EAF7F0"/>
          </a:solidFill>
          <a:ln w="14288">
            <a:solidFill>
              <a:srgbClr val="1F8A5B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C7953C2-E5E7-4CDD-8EB7-DE8DCAB82F0E}"/>
              </a:ext>
            </a:extLst>
          </p:cNvPr>
          <p:cNvSpPr>
            <a:spLocks noGrp="1"/>
          </p:cNvSpPr>
          <p:nvPr/>
        </p:nvSpPr>
        <p:spPr>
          <a:xfrm>
            <a:off x="9582150" y="2228850"/>
            <a:ext cx="1409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8A5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F8A5B"/>
                </a:solidFill>
                <a:latin typeface="PingFang SC"/>
                <a:ea typeface="PingFang SC"/>
                <a:cs typeface="PingFang SC"/>
              </a:rPr>
              <a:t>Safety Agent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E333457-ADC2-40EE-A464-D51E1AF98F3B}"/>
              </a:ext>
            </a:extLst>
          </p:cNvPr>
          <p:cNvSpPr>
            <a:spLocks noGrp="1"/>
          </p:cNvSpPr>
          <p:nvPr/>
        </p:nvSpPr>
        <p:spPr>
          <a:xfrm>
            <a:off x="9582150" y="2571750"/>
            <a:ext cx="1409700" cy="809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过滤诊断、开药、停药、替代血压计等风险表达</a:t>
            </a:r>
            <a:r>
              <a:rPr sz="975" b="0" dirty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5DDAA0D-A8F6-4B87-9F10-17458B1B4608}"/>
              </a:ext>
            </a:extLst>
          </p:cNvPr>
          <p:cNvSpPr>
            <a:spLocks noGrp="1"/>
          </p:cNvSpPr>
          <p:nvPr/>
        </p:nvSpPr>
        <p:spPr>
          <a:xfrm>
            <a:off x="1095375" y="4143375"/>
            <a:ext cx="44767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A2EBC03-154E-4A09-9CD7-CD2CB8CDB831}"/>
              </a:ext>
            </a:extLst>
          </p:cNvPr>
          <p:cNvSpPr>
            <a:spLocks noGrp="1"/>
          </p:cNvSpPr>
          <p:nvPr/>
        </p:nvSpPr>
        <p:spPr>
          <a:xfrm>
            <a:off x="1352550" y="43624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RAG 版输出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198263-513F-46C1-BB85-CCF877CA4A81}"/>
              </a:ext>
            </a:extLst>
          </p:cNvPr>
          <p:cNvSpPr>
            <a:spLocks noGrp="1"/>
          </p:cNvSpPr>
          <p:nvPr/>
        </p:nvSpPr>
        <p:spPr>
          <a:xfrm>
            <a:off x="1352550" y="4752975"/>
            <a:ext cx="371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带参考来源；能说明为什么建议复核、连续记录、基层或门诊沟通；安全提醒优先引用高可信来源</a:t>
            </a:r>
            <a:r>
              <a:rPr sz="1275" b="0" dirty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1E8230E-D1C9-4657-AE4F-6E037F12E8BF}"/>
              </a:ext>
            </a:extLst>
          </p:cNvPr>
          <p:cNvSpPr>
            <a:spLocks noGrp="1"/>
          </p:cNvSpPr>
          <p:nvPr/>
        </p:nvSpPr>
        <p:spPr>
          <a:xfrm>
            <a:off x="6572250" y="4143375"/>
            <a:ext cx="3714750" cy="1143000"/>
          </a:xfrm>
          <a:prstGeom prst="rect">
            <a:avLst/>
          </a:prstGeom>
          <a:solidFill>
            <a:srgbClr val="FFFDF8"/>
          </a:solidFill>
          <a:ln w="9525">
            <a:solidFill>
              <a:srgbClr val="D8D2C7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5C3266E-E671-4A8C-8253-767B59F997C0}"/>
              </a:ext>
            </a:extLst>
          </p:cNvPr>
          <p:cNvSpPr>
            <a:spLocks noGrp="1"/>
          </p:cNvSpPr>
          <p:nvPr/>
        </p:nvSpPr>
        <p:spPr>
          <a:xfrm>
            <a:off x="6838950" y="43624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B779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非 RAG 对照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8C6845C-29FE-4744-BA83-59AC08667A05}"/>
              </a:ext>
            </a:extLst>
          </p:cNvPr>
          <p:cNvSpPr>
            <a:spLocks noGrp="1"/>
          </p:cNvSpPr>
          <p:nvPr/>
        </p:nvSpPr>
        <p:spPr>
          <a:xfrm>
            <a:off x="6838950" y="4752975"/>
            <a:ext cx="30003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只给同一份结构化输入，不提供本地证据；用于展示没有证据锚点时的差异。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16DD717-9A76-4D7D-A777-3965708F7EFD}"/>
              </a:ext>
            </a:extLst>
          </p:cNvPr>
          <p:cNvSpPr>
            <a:spLocks noGrp="1"/>
          </p:cNvSpPr>
          <p:nvPr/>
        </p:nvSpPr>
        <p:spPr>
          <a:xfrm>
            <a:off x="933450" y="5886450"/>
            <a:ext cx="952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D24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现场打开：Streamlit demo -&gt; 选择中文病例 -&gt; 生成 RAG 版和非 RAG 对照 -&gt; 展示证据依据页。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AB44E86-EC18-4C08-A571-54B0D4D055EE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A6F65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7A6F65"/>
                </a:solidFill>
                <a:latin typeface="PingFang SC"/>
                <a:ea typeface="PingFang SC"/>
                <a:cs typeface="PingFang SC"/>
              </a:rPr>
              <a:t>source: app demo architecture + report generation behavior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165F726-42A9-42C1-99E2-902D181A3018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07359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EEEDDA66-3E72-4E94-BBD0-EB66A0FB983C}"/>
              </a:ext>
            </a:extLst>
          </p:cNvPr>
          <p:cNvSpPr>
            <a:spLocks noGrp="1"/>
          </p:cNvSpPr>
          <p:nvPr/>
        </p:nvSpPr>
        <p:spPr>
          <a:xfrm>
            <a:off x="101600" y="390525"/>
            <a:ext cx="12192000" cy="6858000"/>
          </a:xfrm>
          <a:prstGeom prst="rect">
            <a:avLst/>
          </a:prstGeom>
          <a:solidFill>
            <a:srgbClr val="F7F5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1E8AB15-BE1A-4466-B7F0-218274E2BA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D83A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685037-8995-4055-923D-9788E6CBF890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CONTROL DEMO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3691B48-5030-4FEF-9126-993E3868FAD3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287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D243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dirty="0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RAG </a:t>
            </a:r>
            <a:r>
              <a:rPr sz="2850" b="1" dirty="0" err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的价值</a:t>
            </a:r>
            <a:r>
              <a:rPr lang="zh-CN" altLang="en-US" sz="2850" b="1" dirty="0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在于</a:t>
            </a:r>
            <a:r>
              <a:rPr sz="2850" b="1" dirty="0" err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靠证据锚点可检查</a:t>
            </a:r>
            <a:endParaRPr sz="2850" b="1" dirty="0">
              <a:solidFill>
                <a:srgbClr val="1D2433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C0EA9C-16D4-4092-B20E-58D1471948B6}"/>
              </a:ext>
            </a:extLst>
          </p:cNvPr>
          <p:cNvSpPr>
            <a:spLocks noGrp="1"/>
          </p:cNvSpPr>
          <p:nvPr/>
        </p:nvSpPr>
        <p:spPr>
          <a:xfrm>
            <a:off x="628650" y="148590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dirty="0" err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非</a:t>
            </a:r>
            <a:r>
              <a:rPr sz="1275" b="0" dirty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 RAG </a:t>
            </a:r>
            <a:r>
              <a:rPr sz="1275" b="0" dirty="0" err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可以更有人味，但它没有本地文献约束；RAG</a:t>
            </a:r>
            <a:r>
              <a:rPr sz="1275" b="0" dirty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75" b="0" dirty="0" err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版要做到既有人味又有来源</a:t>
            </a:r>
            <a:r>
              <a:rPr sz="1275" b="0" dirty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641EB6-70A4-4B09-8B8A-06AD2D37D13E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4762500" cy="2857500"/>
          </a:xfrm>
          <a:prstGeom prst="rect">
            <a:avLst/>
          </a:prstGeom>
          <a:solidFill>
            <a:srgbClr val="E6F3F2"/>
          </a:solidFill>
          <a:ln w="11430">
            <a:solidFill>
              <a:srgbClr val="A7D6D3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833A76-FCA1-43CB-989E-91C37C26DDD2}"/>
              </a:ext>
            </a:extLst>
          </p:cNvPr>
          <p:cNvSpPr>
            <a:spLocks noGrp="1"/>
          </p:cNvSpPr>
          <p:nvPr/>
        </p:nvSpPr>
        <p:spPr>
          <a:xfrm>
            <a:off x="1066800" y="2266950"/>
            <a:ext cx="3429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RAG 版：可解释、可追溯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30BC8F-4F67-4E7B-9EFA-567BC41853B8}"/>
              </a:ext>
            </a:extLst>
          </p:cNvPr>
          <p:cNvSpPr>
            <a:spLocks noGrp="1"/>
          </p:cNvSpPr>
          <p:nvPr/>
        </p:nvSpPr>
        <p:spPr>
          <a:xfrm>
            <a:off x="1123950" y="2933700"/>
            <a:ext cx="66675" cy="66675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622832-8A94-4E91-92F1-86EB1D6B58A6}"/>
              </a:ext>
            </a:extLst>
          </p:cNvPr>
          <p:cNvSpPr>
            <a:spLocks noGrp="1"/>
          </p:cNvSpPr>
          <p:nvPr/>
        </p:nvSpPr>
        <p:spPr>
          <a:xfrm>
            <a:off x="1295400" y="2857500"/>
            <a:ext cx="3714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先检索本地文档库，再生成报告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75B9E21-2F16-4B22-A47E-7A628277363A}"/>
              </a:ext>
            </a:extLst>
          </p:cNvPr>
          <p:cNvSpPr>
            <a:spLocks noGrp="1"/>
          </p:cNvSpPr>
          <p:nvPr/>
        </p:nvSpPr>
        <p:spPr>
          <a:xfrm>
            <a:off x="1123950" y="3343275"/>
            <a:ext cx="66675" cy="66675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E2D711D-1D72-45F0-94A3-D67784C0376F}"/>
              </a:ext>
            </a:extLst>
          </p:cNvPr>
          <p:cNvSpPr>
            <a:spLocks noGrp="1"/>
          </p:cNvSpPr>
          <p:nvPr/>
        </p:nvSpPr>
        <p:spPr>
          <a:xfrm>
            <a:off x="1295400" y="3267075"/>
            <a:ext cx="3714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可以展示参考来源和证据数量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024BBB2-5E31-4608-BD94-5CE66BC9234B}"/>
              </a:ext>
            </a:extLst>
          </p:cNvPr>
          <p:cNvSpPr>
            <a:spLocks noGrp="1"/>
          </p:cNvSpPr>
          <p:nvPr/>
        </p:nvSpPr>
        <p:spPr>
          <a:xfrm>
            <a:off x="1123950" y="3752850"/>
            <a:ext cx="66675" cy="66675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71AD307-4918-4C2D-A34C-AC49ED95DBA6}"/>
              </a:ext>
            </a:extLst>
          </p:cNvPr>
          <p:cNvSpPr>
            <a:spLocks noGrp="1"/>
          </p:cNvSpPr>
          <p:nvPr/>
        </p:nvSpPr>
        <p:spPr>
          <a:xfrm>
            <a:off x="1295400" y="3676650"/>
            <a:ext cx="3714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报告建议能回到指南、官方教育或科学声明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6EAFF5-F5B2-4177-A297-CC445FE0DA35}"/>
              </a:ext>
            </a:extLst>
          </p:cNvPr>
          <p:cNvSpPr>
            <a:spLocks noGrp="1"/>
          </p:cNvSpPr>
          <p:nvPr/>
        </p:nvSpPr>
        <p:spPr>
          <a:xfrm>
            <a:off x="1123950" y="4162425"/>
            <a:ext cx="66675" cy="66675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EE42F3C-436F-49D9-BABE-F1BCA3AE9E24}"/>
              </a:ext>
            </a:extLst>
          </p:cNvPr>
          <p:cNvSpPr>
            <a:spLocks noGrp="1"/>
          </p:cNvSpPr>
          <p:nvPr/>
        </p:nvSpPr>
        <p:spPr>
          <a:xfrm>
            <a:off x="1295400" y="4086225"/>
            <a:ext cx="3714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安全边界更稳定：不诊断、不替代血压计、不提供用药方案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A9D5AEC-CA9B-49D5-98E5-C43D7E190CE2}"/>
              </a:ext>
            </a:extLst>
          </p:cNvPr>
          <p:cNvSpPr>
            <a:spLocks noGrp="1"/>
          </p:cNvSpPr>
          <p:nvPr/>
        </p:nvSpPr>
        <p:spPr>
          <a:xfrm>
            <a:off x="6496050" y="2000250"/>
            <a:ext cx="4762500" cy="2857500"/>
          </a:xfrm>
          <a:prstGeom prst="rect">
            <a:avLst/>
          </a:prstGeom>
          <a:solidFill>
            <a:srgbClr val="FFF7E6"/>
          </a:solidFill>
          <a:ln w="11430">
            <a:solidFill>
              <a:srgbClr val="E6C47E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2AEB2A-1FAF-4A2D-BEB8-9650544C2929}"/>
              </a:ext>
            </a:extLst>
          </p:cNvPr>
          <p:cNvSpPr>
            <a:spLocks noGrp="1"/>
          </p:cNvSpPr>
          <p:nvPr/>
        </p:nvSpPr>
        <p:spPr>
          <a:xfrm>
            <a:off x="6819900" y="2266950"/>
            <a:ext cx="3714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B779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 dirty="0" err="1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非</a:t>
            </a:r>
            <a:r>
              <a:rPr sz="2100" b="1" dirty="0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100" b="1" dirty="0" err="1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RAG：表达可能自然，但证据不可见</a:t>
            </a:r>
            <a:endParaRPr sz="2100" b="1" dirty="0">
              <a:solidFill>
                <a:srgbClr val="B7791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DA0EF5-BC77-4423-AB90-18314BFC33E1}"/>
              </a:ext>
            </a:extLst>
          </p:cNvPr>
          <p:cNvSpPr>
            <a:spLocks noGrp="1"/>
          </p:cNvSpPr>
          <p:nvPr/>
        </p:nvSpPr>
        <p:spPr>
          <a:xfrm>
            <a:off x="6877050" y="2933700"/>
            <a:ext cx="66675" cy="66675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715D875-A1B2-4AEB-9E9D-6767D25DC74A}"/>
              </a:ext>
            </a:extLst>
          </p:cNvPr>
          <p:cNvSpPr>
            <a:spLocks noGrp="1"/>
          </p:cNvSpPr>
          <p:nvPr/>
        </p:nvSpPr>
        <p:spPr>
          <a:xfrm>
            <a:off x="7048500" y="2857500"/>
            <a:ext cx="3714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dirty="0" err="1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只给结构化输入，不给本地文献</a:t>
            </a:r>
            <a:endParaRPr sz="1350" b="0" dirty="0">
              <a:solidFill>
                <a:srgbClr val="35405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61950A-B5AE-4E92-93D4-FA3892720D61}"/>
              </a:ext>
            </a:extLst>
          </p:cNvPr>
          <p:cNvSpPr>
            <a:spLocks noGrp="1"/>
          </p:cNvSpPr>
          <p:nvPr/>
        </p:nvSpPr>
        <p:spPr>
          <a:xfrm>
            <a:off x="6877050" y="3343275"/>
            <a:ext cx="66675" cy="66675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8BBFA4A-0DE5-41D0-BC0F-435FDD042866}"/>
              </a:ext>
            </a:extLst>
          </p:cNvPr>
          <p:cNvSpPr>
            <a:spLocks noGrp="1"/>
          </p:cNvSpPr>
          <p:nvPr/>
        </p:nvSpPr>
        <p:spPr>
          <a:xfrm>
            <a:off x="7048500" y="3267075"/>
            <a:ext cx="3714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模型可能给出合理但无法审计的建议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DADAF21-896B-4210-9844-8AEE2CAB585D}"/>
              </a:ext>
            </a:extLst>
          </p:cNvPr>
          <p:cNvSpPr>
            <a:spLocks noGrp="1"/>
          </p:cNvSpPr>
          <p:nvPr/>
        </p:nvSpPr>
        <p:spPr>
          <a:xfrm>
            <a:off x="6877050" y="3752850"/>
            <a:ext cx="66675" cy="66675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B8B569B-4284-4C68-A735-85934477396D}"/>
              </a:ext>
            </a:extLst>
          </p:cNvPr>
          <p:cNvSpPr>
            <a:spLocks noGrp="1"/>
          </p:cNvSpPr>
          <p:nvPr/>
        </p:nvSpPr>
        <p:spPr>
          <a:xfrm>
            <a:off x="7048500" y="3676650"/>
            <a:ext cx="3714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难以说明为什么引用某条医学依据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15B130B-2E82-4694-9BC8-D35675E99E89}"/>
              </a:ext>
            </a:extLst>
          </p:cNvPr>
          <p:cNvSpPr>
            <a:spLocks noGrp="1"/>
          </p:cNvSpPr>
          <p:nvPr/>
        </p:nvSpPr>
        <p:spPr>
          <a:xfrm>
            <a:off x="6877050" y="4162425"/>
            <a:ext cx="66675" cy="66675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6A2EA8F-6E6F-4089-AB36-4DA0F6887D05}"/>
              </a:ext>
            </a:extLst>
          </p:cNvPr>
          <p:cNvSpPr>
            <a:spLocks noGrp="1"/>
          </p:cNvSpPr>
          <p:nvPr/>
        </p:nvSpPr>
        <p:spPr>
          <a:xfrm>
            <a:off x="7048500" y="4086225"/>
            <a:ext cx="3714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5405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54052"/>
                </a:solidFill>
                <a:latin typeface="PingFang SC"/>
                <a:ea typeface="PingFang SC"/>
                <a:cs typeface="PingFang SC"/>
              </a:rPr>
              <a:t>适合作为对照组，不适合作为最终安全输出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20D30AE-E8ED-41F0-8E12-10CB5D3A9A38}"/>
              </a:ext>
            </a:extLst>
          </p:cNvPr>
          <p:cNvSpPr>
            <a:spLocks noGrp="1"/>
          </p:cNvSpPr>
          <p:nvPr/>
        </p:nvSpPr>
        <p:spPr>
          <a:xfrm>
            <a:off x="914400" y="5486400"/>
            <a:ext cx="9525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D24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dirty="0" err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演示时的观察点：同一个病例下，RAG</a:t>
            </a:r>
            <a:r>
              <a:rPr sz="1650" b="1" dirty="0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 版是否能解释“</a:t>
            </a:r>
            <a:r>
              <a:rPr sz="1650" b="1" dirty="0" err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为什么建议复核</a:t>
            </a:r>
            <a:r>
              <a:rPr sz="1650" b="1" dirty="0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”，</a:t>
            </a:r>
            <a:r>
              <a:rPr sz="1650" b="1" dirty="0" err="1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是否能展示证据来源，是否保持用户能听懂的语言</a:t>
            </a:r>
            <a:r>
              <a:rPr sz="1650" b="1" dirty="0">
                <a:solidFill>
                  <a:srgbClr val="1D2433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56E8F4A-3D29-43C8-BD3F-5D49C2123B6B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A6F65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7A6F65"/>
                </a:solidFill>
                <a:latin typeface="PingFang SC"/>
                <a:ea typeface="PingFang SC"/>
                <a:cs typeface="PingFang SC"/>
              </a:rPr>
              <a:t>source: Streamlit RAG / non-RAG comparison tab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FE4D98E-ABD6-46F3-9B2D-DD4C5BED1EE6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D83A3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3A34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7679087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1075</Words>
  <Application>Microsoft Macintosh PowerPoint</Application>
  <DocSecurity>0</DocSecurity>
  <PresentationFormat>宽屏</PresentationFormat>
  <Paragraphs>275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PingFang SC</vt:lpstr>
      <vt:lpstr>Aptos Mono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昊 梁</cp:lastModifiedBy>
  <cp:revision>4</cp:revision>
  <dcterms:created xsi:type="dcterms:W3CDTF">2026-05-28T08:21:31Z</dcterms:created>
  <dcterms:modified xsi:type="dcterms:W3CDTF">2026-05-28T12:27:42Z</dcterms:modified>
</cp:coreProperties>
</file>